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1675"/>
  <p:notesSz cx="6858000" cy="12191675"/>
  <p:embeddedFontLst>
    <p:embeddedFont>
      <p:font typeface="Arial Black"/>
      <p:regular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gN7mRY2NRCx6LNTUxTW39CokG7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font" Target="fonts/ArialBlack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e74e738b13_3_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g3e74e738b13_3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Relationship Id="rId4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Relationship Id="rId4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Relationship Id="rId4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sessions/happy-vibrant-turing/mnt/outputs/fig/fig_track.png" id="16" name="Google Shape;16;p1"/>
          <p:cNvPicPr preferRelativeResize="0"/>
          <p:nvPr/>
        </p:nvPicPr>
        <p:blipFill rotWithShape="1">
          <a:blip r:embed="rId4">
            <a:alphaModFix amt="38000"/>
          </a:blip>
          <a:srcRect b="0" l="0" r="0" t="0"/>
          <a:stretch/>
        </p:blipFill>
        <p:spPr>
          <a:xfrm>
            <a:off x="9418320" y="914400"/>
            <a:ext cx="2633472" cy="548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640080" y="123444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D3C5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9D3C5"/>
                </a:solidFill>
                <a:latin typeface="Calibri"/>
                <a:ea typeface="Calibri"/>
                <a:cs typeface="Calibri"/>
                <a:sym typeface="Calibri"/>
              </a:rPr>
              <a:t>MESTRADO EM </a:t>
            </a:r>
            <a:r>
              <a:rPr b="1" lang="en-US" sz="1250">
                <a:solidFill>
                  <a:srgbClr val="19D3C5"/>
                </a:solidFill>
                <a:latin typeface="Calibri"/>
                <a:ea typeface="Calibri"/>
                <a:cs typeface="Calibri"/>
                <a:sym typeface="Calibri"/>
              </a:rPr>
              <a:t>INTELIGÊNCIA</a:t>
            </a:r>
            <a:r>
              <a:rPr b="1" i="0" lang="en-US" sz="1250" u="none" cap="none" strike="noStrike">
                <a:solidFill>
                  <a:srgbClr val="19D3C5"/>
                </a:solidFill>
                <a:latin typeface="Calibri"/>
                <a:ea typeface="Calibri"/>
                <a:cs typeface="Calibri"/>
                <a:sym typeface="Calibri"/>
              </a:rPr>
              <a:t> ARTIFICIAL  -  UNIVERSIDADE DO MINHO  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640080" y="1783080"/>
            <a:ext cx="106070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5000"/>
              <a:buFont typeface="Arial Black"/>
              <a:buNone/>
            </a:pPr>
            <a:r>
              <a:rPr b="0" i="0" lang="en-US" sz="5000" u="none" cap="none" strike="noStrike">
                <a:solidFill>
                  <a:srgbClr val="EAF0F7"/>
                </a:solidFill>
                <a:latin typeface="Arial Black"/>
                <a:ea typeface="Arial Black"/>
                <a:cs typeface="Arial Black"/>
                <a:sym typeface="Arial Black"/>
              </a:rPr>
              <a:t>NAVEGA</a:t>
            </a:r>
            <a:r>
              <a:rPr lang="en-US" sz="5000">
                <a:solidFill>
                  <a:srgbClr val="EAF0F7"/>
                </a:solidFill>
                <a:latin typeface="Arial Black"/>
                <a:ea typeface="Arial Black"/>
                <a:cs typeface="Arial Black"/>
                <a:sym typeface="Arial Black"/>
              </a:rPr>
              <a:t>ÇÃ</a:t>
            </a:r>
            <a:r>
              <a:rPr b="0" i="0" lang="en-US" sz="5000" u="none" cap="none" strike="noStrike">
                <a:solidFill>
                  <a:srgbClr val="EAF0F7"/>
                </a:solidFill>
                <a:latin typeface="Arial Black"/>
                <a:ea typeface="Arial Black"/>
                <a:cs typeface="Arial Black"/>
                <a:sym typeface="Arial Black"/>
              </a:rPr>
              <a:t>O AUT</a:t>
            </a:r>
            <a:r>
              <a:rPr lang="en-US" sz="5000">
                <a:solidFill>
                  <a:srgbClr val="EAF0F7"/>
                </a:solidFill>
                <a:latin typeface="Arial Black"/>
                <a:ea typeface="Arial Black"/>
                <a:cs typeface="Arial Black"/>
                <a:sym typeface="Arial Black"/>
              </a:rPr>
              <a:t>Ó</a:t>
            </a:r>
            <a:r>
              <a:rPr b="0" i="0" lang="en-US" sz="5000" u="none" cap="none" strike="noStrike">
                <a:solidFill>
                  <a:srgbClr val="EAF0F7"/>
                </a:solidFill>
                <a:latin typeface="Arial Black"/>
                <a:ea typeface="Arial Black"/>
                <a:cs typeface="Arial Black"/>
                <a:sym typeface="Arial Black"/>
              </a:rPr>
              <a:t>NOMA NA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FF2D55"/>
              </a:buClr>
              <a:buSzPts val="5000"/>
              <a:buFont typeface="Arial Black"/>
              <a:buNone/>
            </a:pPr>
            <a:r>
              <a:rPr b="0" i="0" lang="en-US" sz="5000" u="none" cap="none" strike="noStrike">
                <a:solidFill>
                  <a:srgbClr val="FF2D55"/>
                </a:solidFill>
                <a:latin typeface="Arial Black"/>
                <a:ea typeface="Arial Black"/>
                <a:cs typeface="Arial Black"/>
                <a:sym typeface="Arial Black"/>
              </a:rPr>
              <a:t>FORMULA STUDENT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640080" y="3611880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Uma abordagem baseada em Aprendizagem por </a:t>
            </a:r>
            <a:r>
              <a:rPr i="1" lang="en-US" sz="1800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Reforço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640080" y="4526280"/>
            <a:ext cx="4160520" cy="457200"/>
          </a:xfrm>
          <a:prstGeom prst="roundRect">
            <a:avLst>
              <a:gd fmla="val 50000" name="adj"/>
            </a:avLst>
          </a:prstGeom>
          <a:solidFill>
            <a:srgbClr val="1C2740"/>
          </a:solidFill>
          <a:ln cap="flat" cmpd="sng" w="12700">
            <a:solidFill>
              <a:srgbClr val="19D3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804672" y="4700016"/>
            <a:ext cx="118872" cy="118872"/>
          </a:xfrm>
          <a:prstGeom prst="ellipse">
            <a:avLst/>
          </a:prstGeom>
          <a:solidFill>
            <a:srgbClr val="19D3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1024128" y="4526280"/>
            <a:ext cx="3703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Luis Miguel Pereira Silva  -  PG60390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5029200" y="4526280"/>
            <a:ext cx="4526280" cy="457200"/>
          </a:xfrm>
          <a:prstGeom prst="roundRect">
            <a:avLst>
              <a:gd fmla="val 50000" name="adj"/>
            </a:avLst>
          </a:prstGeom>
          <a:solidFill>
            <a:srgbClr val="1C2740"/>
          </a:solidFill>
          <a:ln cap="flat" cmpd="sng" w="12700">
            <a:solidFill>
              <a:srgbClr val="19D3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5193792" y="4700016"/>
            <a:ext cx="118872" cy="118872"/>
          </a:xfrm>
          <a:prstGeom prst="ellipse">
            <a:avLst/>
          </a:prstGeom>
          <a:solidFill>
            <a:srgbClr val="19D3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5413248" y="4526280"/>
            <a:ext cx="4069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Pedro M. S. A. Urbano dos Reis  -  PG59908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640080" y="5257800"/>
            <a:ext cx="2331720" cy="457200"/>
          </a:xfrm>
          <a:prstGeom prst="roundRect">
            <a:avLst>
              <a:gd fmla="val 50000" name="adj"/>
            </a:avLst>
          </a:prstGeom>
          <a:solidFill>
            <a:srgbClr val="1C2740"/>
          </a:solidFill>
          <a:ln cap="flat" cmpd="sng" w="12700">
            <a:solidFill>
              <a:srgbClr val="FF2D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804672" y="5431536"/>
            <a:ext cx="118872" cy="118872"/>
          </a:xfrm>
          <a:prstGeom prst="ellipse">
            <a:avLst/>
          </a:prstGeom>
          <a:solidFill>
            <a:srgbClr val="FF2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1024128" y="5257800"/>
            <a:ext cx="1874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1" i="0" lang="en-US" sz="115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istas </a:t>
            </a:r>
            <a:r>
              <a:rPr b="1" lang="en-US" sz="1150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1" i="0" lang="en-US" sz="115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eais FS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3172968" y="5257800"/>
            <a:ext cx="2331720" cy="457200"/>
          </a:xfrm>
          <a:prstGeom prst="roundRect">
            <a:avLst>
              <a:gd fmla="val 50000" name="adj"/>
            </a:avLst>
          </a:prstGeom>
          <a:solidFill>
            <a:srgbClr val="1C2740"/>
          </a:solidFill>
          <a:ln cap="flat" cmpd="sng" w="12700">
            <a:solidFill>
              <a:srgbClr val="9D7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3337560" y="5431536"/>
            <a:ext cx="118872" cy="118872"/>
          </a:xfrm>
          <a:prstGeom prst="ellipse">
            <a:avLst/>
          </a:prstGeom>
          <a:solidFill>
            <a:srgbClr val="9D7B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3557016" y="5257800"/>
            <a:ext cx="1874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Ambiente 2D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5705856" y="5257800"/>
            <a:ext cx="2331720" cy="457200"/>
          </a:xfrm>
          <a:prstGeom prst="roundRect">
            <a:avLst>
              <a:gd fmla="val 50000" name="adj"/>
            </a:avLst>
          </a:prstGeom>
          <a:solidFill>
            <a:srgbClr val="1C2740"/>
          </a:solidFill>
          <a:ln cap="flat" cmpd="sng" w="12700">
            <a:solidFill>
              <a:srgbClr val="FFC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5870448" y="5431536"/>
            <a:ext cx="118872" cy="118872"/>
          </a:xfrm>
          <a:prstGeom prst="ellipse">
            <a:avLst/>
          </a:prstGeom>
          <a:solidFill>
            <a:srgbClr val="FFC4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1"/>
          <p:cNvSpPr/>
          <p:nvPr/>
        </p:nvSpPr>
        <p:spPr>
          <a:xfrm>
            <a:off x="6089904" y="5257800"/>
            <a:ext cx="1874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Regras FS-AI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640080" y="61264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1B5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"/>
          <p:cNvSpPr/>
          <p:nvPr/>
        </p:nvSpPr>
        <p:spPr>
          <a:xfrm>
            <a:off x="640080" y="603504"/>
            <a:ext cx="155448" cy="155448"/>
          </a:xfrm>
          <a:prstGeom prst="rect">
            <a:avLst/>
          </a:prstGeom>
          <a:solidFill>
            <a:srgbClr val="FF2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914400" y="475488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D55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2D55"/>
                </a:solidFill>
                <a:latin typeface="Calibri"/>
                <a:ea typeface="Calibri"/>
                <a:cs typeface="Calibri"/>
                <a:sym typeface="Calibri"/>
              </a:rPr>
              <a:t>01 - MOTIVA</a:t>
            </a:r>
            <a:r>
              <a:rPr b="1" lang="en-US" sz="1250">
                <a:solidFill>
                  <a:srgbClr val="FF2D55"/>
                </a:solidFill>
                <a:latin typeface="Calibri"/>
                <a:ea typeface="Calibri"/>
                <a:cs typeface="Calibri"/>
                <a:sym typeface="Calibri"/>
              </a:rPr>
              <a:t>ÇÃ</a:t>
            </a:r>
            <a:r>
              <a:rPr b="1" i="0" lang="en-US" sz="1250" u="none" cap="none" strike="noStrike">
                <a:solidFill>
                  <a:srgbClr val="FF2D55"/>
                </a:solidFill>
                <a:latin typeface="Calibri"/>
                <a:ea typeface="Calibri"/>
                <a:cs typeface="Calibri"/>
                <a:sym typeface="Calibri"/>
              </a:rPr>
              <a:t>O &amp; OBJETIVOS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640080" y="932688"/>
            <a:ext cx="10972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2900"/>
              <a:buFont typeface="Arial Black"/>
              <a:buNone/>
            </a:pPr>
            <a:r>
              <a:rPr b="0" i="0" lang="en-US" sz="2900" u="none" cap="none" strike="noStrike">
                <a:solidFill>
                  <a:srgbClr val="EAF0F7"/>
                </a:solidFill>
                <a:latin typeface="Arial Black"/>
                <a:ea typeface="Arial Black"/>
                <a:cs typeface="Arial Black"/>
                <a:sym typeface="Arial Black"/>
              </a:rPr>
              <a:t>Conduzir </a:t>
            </a:r>
            <a:r>
              <a:rPr lang="en-US" sz="2900">
                <a:solidFill>
                  <a:srgbClr val="FF2D55"/>
                </a:solidFill>
                <a:latin typeface="Arial Black"/>
                <a:ea typeface="Arial Black"/>
                <a:cs typeface="Arial Black"/>
                <a:sym typeface="Arial Black"/>
              </a:rPr>
              <a:t>s</a:t>
            </a:r>
            <a:r>
              <a:rPr b="0" i="0" lang="en-US" sz="2900" u="none" cap="none" strike="noStrike">
                <a:solidFill>
                  <a:srgbClr val="FF2D55"/>
                </a:solidFill>
                <a:latin typeface="Arial Black"/>
                <a:ea typeface="Arial Black"/>
                <a:cs typeface="Arial Black"/>
                <a:sym typeface="Arial Black"/>
              </a:rPr>
              <a:t>em </a:t>
            </a:r>
            <a:r>
              <a:rPr lang="en-US" sz="2900">
                <a:solidFill>
                  <a:srgbClr val="FF2D55"/>
                </a:solidFill>
                <a:latin typeface="Arial Black"/>
                <a:ea typeface="Arial Black"/>
                <a:cs typeface="Arial Black"/>
                <a:sym typeface="Arial Black"/>
              </a:rPr>
              <a:t>c</a:t>
            </a:r>
            <a:r>
              <a:rPr b="0" i="0" lang="en-US" sz="2900" u="none" cap="none" strike="noStrike">
                <a:solidFill>
                  <a:srgbClr val="FF2D55"/>
                </a:solidFill>
                <a:latin typeface="Arial Black"/>
                <a:ea typeface="Arial Black"/>
                <a:cs typeface="Arial Black"/>
                <a:sym typeface="Arial Black"/>
              </a:rPr>
              <a:t>ondutor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40080" y="1783080"/>
            <a:ext cx="5349240" cy="4434840"/>
          </a:xfrm>
          <a:prstGeom prst="roundRect">
            <a:avLst>
              <a:gd fmla="val 1856" name="adj"/>
            </a:avLst>
          </a:prstGeom>
          <a:solidFill>
            <a:srgbClr val="151D2C"/>
          </a:solidFill>
          <a:ln cap="flat" cmpd="sng" w="12700">
            <a:solidFill>
              <a:srgbClr val="2C3A57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960120" y="201168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D5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2D55"/>
                </a:solidFill>
                <a:latin typeface="Calibri"/>
                <a:ea typeface="Calibri"/>
                <a:cs typeface="Calibri"/>
                <a:sym typeface="Calibri"/>
              </a:rPr>
              <a:t>O PROBLEMA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960120" y="2331720"/>
            <a:ext cx="47548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A Formula Student </a:t>
            </a:r>
            <a:r>
              <a:rPr lang="en-US" sz="1350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é</a:t>
            </a:r>
            <a:r>
              <a:rPr b="0" i="0" lang="en-US" sz="135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 a maior </a:t>
            </a:r>
            <a:r>
              <a:rPr lang="en-US" sz="1350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competição</a:t>
            </a:r>
            <a:r>
              <a:rPr b="0" i="0" lang="en-US" sz="135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 de engenharia </a:t>
            </a:r>
            <a:r>
              <a:rPr lang="en-US" sz="1350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universitária do mundo</a:t>
            </a:r>
            <a:r>
              <a:rPr b="0" i="0" lang="en-US" sz="135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. Na categoria </a:t>
            </a:r>
            <a:r>
              <a:rPr lang="en-US" sz="1350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driverless</a:t>
            </a:r>
            <a:r>
              <a:rPr b="0" i="0" lang="en-US" sz="135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, n</a:t>
            </a:r>
            <a:r>
              <a:rPr lang="en-US" sz="1350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ã</a:t>
            </a:r>
            <a:r>
              <a:rPr b="0" i="0" lang="en-US" sz="135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o </a:t>
            </a:r>
            <a:r>
              <a:rPr lang="en-US" sz="1350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há</a:t>
            </a:r>
            <a:r>
              <a:rPr b="0" i="0" lang="en-US" sz="135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 piloto a bordo</a:t>
            </a:r>
            <a:r>
              <a:rPr lang="en-US" sz="1350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 e o protótipo tem de ser capaz de navegar o circuito de forma independente.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960120" y="3401568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O carro deve, sem interven</a:t>
            </a:r>
            <a:r>
              <a:rPr b="1" lang="en-US" sz="1350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çã</a:t>
            </a:r>
            <a:r>
              <a:rPr b="1" i="0" lang="en-US" sz="135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o humana: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978408" y="4014216"/>
            <a:ext cx="118872" cy="118872"/>
          </a:xfrm>
          <a:prstGeom prst="rect">
            <a:avLst/>
          </a:prstGeom>
          <a:solidFill>
            <a:srgbClr val="2E7B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1225296" y="3886195"/>
            <a:ext cx="4434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Detetar</a:t>
            </a:r>
            <a:r>
              <a:rPr b="0" i="0" lang="en-US" sz="135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 cones (azul, amarelo, laranja)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978408" y="4581144"/>
            <a:ext cx="118872" cy="118872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1225334" y="4448561"/>
            <a:ext cx="4434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Planear a </a:t>
            </a:r>
            <a:r>
              <a:rPr lang="en-US" sz="1350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trajetória</a:t>
            </a:r>
            <a:r>
              <a:rPr b="0" i="0" lang="en-US" sz="135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 e atuar em tempo real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978408" y="5148072"/>
            <a:ext cx="118872" cy="118872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1225334" y="5010901"/>
            <a:ext cx="4434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Respeitar as regras da categoria Driverless.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6400800" y="182880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D3C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9D3C5"/>
                </a:solidFill>
                <a:latin typeface="Calibri"/>
                <a:ea typeface="Calibri"/>
                <a:cs typeface="Calibri"/>
                <a:sym typeface="Calibri"/>
              </a:rPr>
              <a:t>OBJETIVOS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6400800" y="2240280"/>
            <a:ext cx="420624" cy="420624"/>
          </a:xfrm>
          <a:prstGeom prst="ellipse">
            <a:avLst/>
          </a:prstGeom>
          <a:solidFill>
            <a:srgbClr val="1C2740"/>
          </a:solidFill>
          <a:ln cap="flat" cmpd="sng" w="19050">
            <a:solidFill>
              <a:srgbClr val="FF2D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6400800" y="224028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2D55"/>
              </a:buClr>
              <a:buSzPts val="1500"/>
              <a:buFont typeface="Arial Black"/>
              <a:buNone/>
            </a:pPr>
            <a:r>
              <a:rPr b="0" i="0" lang="en-US" sz="1500" u="none" cap="none" strike="noStrike">
                <a:solidFill>
                  <a:srgbClr val="FF2D55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6967728" y="2167128"/>
            <a:ext cx="4572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Treinar um agente RL (SAC / PPO) capaz de completar voltas </a:t>
            </a:r>
            <a:r>
              <a:rPr lang="en-US" sz="1350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no menor tempo possível.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6400800" y="3172968"/>
            <a:ext cx="420624" cy="420624"/>
          </a:xfrm>
          <a:prstGeom prst="ellipse">
            <a:avLst/>
          </a:prstGeom>
          <a:solidFill>
            <a:srgbClr val="1C2740"/>
          </a:solidFill>
          <a:ln cap="flat" cmpd="sng" w="19050">
            <a:solidFill>
              <a:srgbClr val="FF7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6400800" y="317296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7A1A"/>
              </a:buClr>
              <a:buSzPts val="1500"/>
              <a:buFont typeface="Arial Black"/>
              <a:buNone/>
            </a:pPr>
            <a:r>
              <a:rPr b="0" i="0" lang="en-US" sz="1500" u="none" cap="none" strike="noStrike">
                <a:solidFill>
                  <a:srgbClr val="FF7A1A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6967728" y="3099816"/>
            <a:ext cx="4572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Implementar regras FS-AI realistas - penaliza</a:t>
            </a:r>
            <a:r>
              <a:rPr lang="en-US" sz="1350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çõ</a:t>
            </a:r>
            <a:r>
              <a:rPr b="0" i="0" lang="en-US" sz="135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es por cone, DOO, off-course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6400800" y="4105656"/>
            <a:ext cx="420624" cy="420624"/>
          </a:xfrm>
          <a:prstGeom prst="ellipse">
            <a:avLst/>
          </a:prstGeom>
          <a:solidFill>
            <a:srgbClr val="1C2740"/>
          </a:solidFill>
          <a:ln cap="flat" cmpd="sng" w="19050">
            <a:solidFill>
              <a:srgbClr val="19D3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6400800" y="410565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9D3C5"/>
              </a:buClr>
              <a:buSzPts val="1500"/>
              <a:buFont typeface="Arial Black"/>
              <a:buNone/>
            </a:pPr>
            <a:r>
              <a:rPr b="0" i="0" lang="en-US" sz="1500" u="none" cap="none" strike="noStrike">
                <a:solidFill>
                  <a:srgbClr val="19D3C5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6967728" y="4032504"/>
            <a:ext cx="4572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Suportar pistas reais de competi</a:t>
            </a:r>
            <a:r>
              <a:rPr lang="en-US" sz="1350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ção à escala </a:t>
            </a:r>
            <a:r>
              <a:rPr b="0" i="0" lang="en-US" sz="135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 (14 tra</a:t>
            </a:r>
            <a:r>
              <a:rPr lang="en-US" sz="1350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ç</a:t>
            </a:r>
            <a:r>
              <a:rPr b="0" i="0" lang="en-US" sz="135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ados oficiais em YAML).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6400800" y="5038344"/>
            <a:ext cx="420624" cy="420624"/>
          </a:xfrm>
          <a:prstGeom prst="ellipse">
            <a:avLst/>
          </a:prstGeom>
          <a:solidFill>
            <a:srgbClr val="1C2740"/>
          </a:solidFill>
          <a:ln cap="flat" cmpd="sng" w="19050">
            <a:solidFill>
              <a:srgbClr val="9D7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6400800" y="5038344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D7BFF"/>
              </a:buClr>
              <a:buSzPts val="1500"/>
              <a:buFont typeface="Arial Black"/>
              <a:buNone/>
            </a:pPr>
            <a:r>
              <a:rPr b="0" i="0" lang="en-US" sz="1500" u="none" cap="none" strike="noStrike">
                <a:solidFill>
                  <a:srgbClr val="9D7BFF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6967728" y="4965192"/>
            <a:ext cx="4572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Avaliar a </a:t>
            </a:r>
            <a:r>
              <a:rPr lang="en-US" sz="1350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generalização </a:t>
            </a:r>
            <a:r>
              <a:rPr b="0" i="0" lang="en-US" sz="135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- split</a:t>
            </a:r>
            <a:r>
              <a:rPr lang="en-US" sz="1350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35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train</a:t>
            </a:r>
            <a:r>
              <a:rPr lang="en-US" sz="1350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b="0" i="0" lang="en-US" sz="135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test + pistas </a:t>
            </a:r>
            <a:r>
              <a:rPr lang="en-US" sz="1350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invertidas.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1B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FORMULA STUDENT DRIVERLESS  -  APRENDIZAGEM POR REFORCO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10271455" y="64465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2D55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2D55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r>
              <a:rPr b="0" i="0" lang="en-US" sz="90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 / 1</a:t>
            </a:r>
            <a:r>
              <a:rPr lang="en-US" sz="900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"/>
          <p:cNvSpPr/>
          <p:nvPr/>
        </p:nvSpPr>
        <p:spPr>
          <a:xfrm>
            <a:off x="640080" y="603504"/>
            <a:ext cx="155448" cy="15544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914400" y="475488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1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7A1A"/>
                </a:solidFill>
                <a:latin typeface="Calibri"/>
                <a:ea typeface="Calibri"/>
                <a:cs typeface="Calibri"/>
                <a:sym typeface="Calibri"/>
              </a:rPr>
              <a:t>02 - AMBIENTE DE SIMULA</a:t>
            </a:r>
            <a:r>
              <a:rPr b="1" lang="en-US" sz="1250">
                <a:solidFill>
                  <a:srgbClr val="FF7A1A"/>
                </a:solidFill>
                <a:latin typeface="Calibri"/>
                <a:ea typeface="Calibri"/>
                <a:cs typeface="Calibri"/>
                <a:sym typeface="Calibri"/>
              </a:rPr>
              <a:t>ÇÃ</a:t>
            </a:r>
            <a:r>
              <a:rPr b="1" i="0" lang="en-US" sz="1250" u="none" cap="none" strike="noStrike">
                <a:solidFill>
                  <a:srgbClr val="FF7A1A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640080" y="932688"/>
            <a:ext cx="10972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2900"/>
              <a:buFont typeface="Arial Black"/>
              <a:buNone/>
            </a:pPr>
            <a:r>
              <a:rPr lang="en-US" sz="2900">
                <a:solidFill>
                  <a:srgbClr val="EAF0F7"/>
                </a:solidFill>
                <a:latin typeface="Arial Black"/>
                <a:ea typeface="Arial Black"/>
                <a:cs typeface="Arial Black"/>
                <a:sym typeface="Arial Black"/>
              </a:rPr>
              <a:t>S</a:t>
            </a:r>
            <a:r>
              <a:rPr b="0" i="0" lang="en-US" sz="2900" u="none" cap="none" strike="noStrike">
                <a:solidFill>
                  <a:srgbClr val="EAF0F7"/>
                </a:solidFill>
                <a:latin typeface="Arial Black"/>
                <a:ea typeface="Arial Black"/>
                <a:cs typeface="Arial Black"/>
                <a:sym typeface="Arial Black"/>
              </a:rPr>
              <a:t>imulador 2D </a:t>
            </a:r>
            <a:r>
              <a:rPr lang="en-US" sz="2900">
                <a:solidFill>
                  <a:srgbClr val="EAF0F7"/>
                </a:solidFill>
                <a:latin typeface="Arial Black"/>
                <a:ea typeface="Arial Black"/>
                <a:cs typeface="Arial Black"/>
                <a:sym typeface="Arial Black"/>
              </a:rPr>
              <a:t>c</a:t>
            </a:r>
            <a:r>
              <a:rPr b="0" i="0" lang="en-US" sz="2900" u="none" cap="none" strike="noStrike">
                <a:solidFill>
                  <a:srgbClr val="EAF0F7"/>
                </a:solidFill>
                <a:latin typeface="Arial Black"/>
                <a:ea typeface="Arial Black"/>
                <a:cs typeface="Arial Black"/>
                <a:sym typeface="Arial Black"/>
              </a:rPr>
              <a:t>onstruido </a:t>
            </a:r>
            <a:r>
              <a:rPr b="0" i="0" lang="en-US" sz="2900" u="none" cap="none" strike="noStrike">
                <a:solidFill>
                  <a:srgbClr val="FF7A1A"/>
                </a:solidFill>
                <a:latin typeface="Arial Black"/>
                <a:ea typeface="Arial Black"/>
                <a:cs typeface="Arial Black"/>
                <a:sym typeface="Arial Black"/>
              </a:rPr>
              <a:t>de </a:t>
            </a:r>
            <a:r>
              <a:rPr lang="en-US" sz="2900">
                <a:solidFill>
                  <a:srgbClr val="FF7A1A"/>
                </a:solidFill>
                <a:latin typeface="Arial Black"/>
                <a:ea typeface="Arial Black"/>
                <a:cs typeface="Arial Black"/>
                <a:sym typeface="Arial Black"/>
              </a:rPr>
              <a:t>r</a:t>
            </a:r>
            <a:r>
              <a:rPr lang="en-US" sz="2900">
                <a:solidFill>
                  <a:srgbClr val="FF7A1A"/>
                </a:solidFill>
                <a:latin typeface="Arial Black"/>
                <a:ea typeface="Arial Black"/>
                <a:cs typeface="Arial Black"/>
                <a:sym typeface="Arial Black"/>
              </a:rPr>
              <a:t>aíz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640080" y="1783080"/>
            <a:ext cx="8138160" cy="978408"/>
          </a:xfrm>
          <a:prstGeom prst="roundRect">
            <a:avLst>
              <a:gd fmla="val 8411" name="adj"/>
            </a:avLst>
          </a:prstGeom>
          <a:solidFill>
            <a:srgbClr val="151D2C"/>
          </a:solidFill>
          <a:ln cap="flat" cmpd="sng" w="12700">
            <a:solidFill>
              <a:srgbClr val="2C3A57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932688" y="2075688"/>
            <a:ext cx="146304" cy="384048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1207008" y="1911096"/>
            <a:ext cx="7315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Modelo </a:t>
            </a:r>
            <a:r>
              <a:rPr b="1" lang="en-US" sz="1500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cinemático</a:t>
            </a:r>
            <a:r>
              <a:rPr b="1" i="0" lang="en-US" sz="15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 de bicicleta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1207008" y="2295144"/>
            <a:ext cx="7406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1B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250 kg - wheelbase 1.55 m - friction circle - 50 Hz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640080" y="2889504"/>
            <a:ext cx="8138160" cy="978408"/>
          </a:xfrm>
          <a:prstGeom prst="roundRect">
            <a:avLst>
              <a:gd fmla="val 8411" name="adj"/>
            </a:avLst>
          </a:prstGeom>
          <a:solidFill>
            <a:srgbClr val="151D2C"/>
          </a:solidFill>
          <a:ln cap="flat" cmpd="sng" w="12700">
            <a:solidFill>
              <a:srgbClr val="2C3A57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932688" y="3182112"/>
            <a:ext cx="146304" cy="38404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1207008" y="3017520"/>
            <a:ext cx="7315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14 pistas reais FS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1207008" y="3401568"/>
            <a:ext cx="7406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1B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Carregadas de YAML e suavizadas com splines c</a:t>
            </a:r>
            <a:r>
              <a:rPr lang="en-US" sz="1200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úbi</a:t>
            </a:r>
            <a:r>
              <a:rPr b="0" i="0" lang="en-US" sz="120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cas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640080" y="3995928"/>
            <a:ext cx="8138160" cy="978408"/>
          </a:xfrm>
          <a:prstGeom prst="roundRect">
            <a:avLst>
              <a:gd fmla="val 8411" name="adj"/>
            </a:avLst>
          </a:prstGeom>
          <a:solidFill>
            <a:srgbClr val="151D2C"/>
          </a:solidFill>
          <a:ln cap="flat" cmpd="sng" w="12700">
            <a:solidFill>
              <a:srgbClr val="2C3A57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932688" y="4288536"/>
            <a:ext cx="146304" cy="384048"/>
          </a:xfrm>
          <a:prstGeom prst="rect">
            <a:avLst/>
          </a:prstGeom>
          <a:solidFill>
            <a:srgbClr val="9D7B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1207008" y="4123944"/>
            <a:ext cx="7315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Domain randomization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1207008" y="4507992"/>
            <a:ext cx="7406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1B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Massa +/-15% - atrito +/-20% - arrasto +/-10% </a:t>
            </a:r>
            <a:r>
              <a:rPr lang="en-US" sz="1200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por episódio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640080" y="5102352"/>
            <a:ext cx="8138160" cy="978408"/>
          </a:xfrm>
          <a:prstGeom prst="roundRect">
            <a:avLst>
              <a:gd fmla="val 8411" name="adj"/>
            </a:avLst>
          </a:prstGeom>
          <a:solidFill>
            <a:srgbClr val="151D2C"/>
          </a:solidFill>
          <a:ln cap="flat" cmpd="sng" w="12700">
            <a:solidFill>
              <a:srgbClr val="2C3A57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932688" y="5394960"/>
            <a:ext cx="146304" cy="384048"/>
          </a:xfrm>
          <a:prstGeom prst="rect">
            <a:avLst/>
          </a:prstGeom>
          <a:solidFill>
            <a:srgbClr val="46E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1207008" y="5230368"/>
            <a:ext cx="7315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Gymnasium + Stable-Baselines3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1207008" y="5614416"/>
            <a:ext cx="7406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1B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Ambiente em PyTorch, treino vetorizado e </a:t>
            </a:r>
            <a:r>
              <a:rPr lang="en-US" sz="1200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reproduzível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happy-vibrant-turing/mnt/outputs/fig/fig_track.png" id="93" name="Google Shape;9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18320" y="1737360"/>
            <a:ext cx="2112264" cy="438912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3"/>
          <p:cNvSpPr/>
          <p:nvPr/>
        </p:nvSpPr>
        <p:spPr>
          <a:xfrm>
            <a:off x="8961120" y="6144768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A1B5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Tracado real FSE23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1B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FORMULA STUDENT DRIVERLESS  -  APRENDIZAGEM POR REFORCO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10271455" y="64465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2D55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2D55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r>
              <a:rPr b="0" i="0" lang="en-US" sz="90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 / 1</a:t>
            </a:r>
            <a:r>
              <a:rPr lang="en-US" sz="900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/>
          <p:nvPr/>
        </p:nvSpPr>
        <p:spPr>
          <a:xfrm>
            <a:off x="640080" y="603504"/>
            <a:ext cx="155448" cy="155448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914400" y="475488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D3C5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9D3C5"/>
                </a:solidFill>
                <a:latin typeface="Calibri"/>
                <a:ea typeface="Calibri"/>
                <a:cs typeface="Calibri"/>
                <a:sym typeface="Calibri"/>
              </a:rPr>
              <a:t>03 - PERCE</a:t>
            </a:r>
            <a:r>
              <a:rPr b="1" lang="en-US" sz="1250">
                <a:solidFill>
                  <a:srgbClr val="19D3C5"/>
                </a:solidFill>
                <a:latin typeface="Calibri"/>
                <a:ea typeface="Calibri"/>
                <a:cs typeface="Calibri"/>
                <a:sym typeface="Calibri"/>
              </a:rPr>
              <a:t>ÇÃ</a:t>
            </a:r>
            <a:r>
              <a:rPr b="1" i="0" lang="en-US" sz="1250" u="none" cap="none" strike="noStrike">
                <a:solidFill>
                  <a:srgbClr val="19D3C5"/>
                </a:solidFill>
                <a:latin typeface="Calibri"/>
                <a:ea typeface="Calibri"/>
                <a:cs typeface="Calibri"/>
                <a:sym typeface="Calibri"/>
              </a:rPr>
              <a:t>O &amp; FORMULA</a:t>
            </a:r>
            <a:r>
              <a:rPr b="1" lang="en-US" sz="1250">
                <a:solidFill>
                  <a:srgbClr val="19D3C5"/>
                </a:solidFill>
                <a:latin typeface="Calibri"/>
                <a:ea typeface="Calibri"/>
                <a:cs typeface="Calibri"/>
                <a:sym typeface="Calibri"/>
              </a:rPr>
              <a:t>ÇÃ</a:t>
            </a:r>
            <a:r>
              <a:rPr b="1" i="0" lang="en-US" sz="1250" u="none" cap="none" strike="noStrike">
                <a:solidFill>
                  <a:srgbClr val="19D3C5"/>
                </a:solidFill>
                <a:latin typeface="Calibri"/>
                <a:ea typeface="Calibri"/>
                <a:cs typeface="Calibri"/>
                <a:sym typeface="Calibri"/>
              </a:rPr>
              <a:t>O RL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640080" y="932688"/>
            <a:ext cx="10972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2900"/>
              <a:buFont typeface="Arial Black"/>
              <a:buNone/>
            </a:pPr>
            <a:r>
              <a:rPr b="0" i="0" lang="en-US" sz="2900" u="none" cap="none" strike="noStrike">
                <a:solidFill>
                  <a:srgbClr val="EAF0F7"/>
                </a:solidFill>
                <a:latin typeface="Arial Black"/>
                <a:ea typeface="Arial Black"/>
                <a:cs typeface="Arial Black"/>
                <a:sym typeface="Arial Black"/>
              </a:rPr>
              <a:t>O </a:t>
            </a:r>
            <a:r>
              <a:rPr lang="en-US" sz="2900">
                <a:solidFill>
                  <a:srgbClr val="EAF0F7"/>
                </a:solidFill>
                <a:latin typeface="Arial Black"/>
                <a:ea typeface="Arial Black"/>
                <a:cs typeface="Arial Black"/>
                <a:sym typeface="Arial Black"/>
              </a:rPr>
              <a:t>A</a:t>
            </a:r>
            <a:r>
              <a:rPr b="0" i="0" lang="en-US" sz="2900" u="none" cap="none" strike="noStrike">
                <a:solidFill>
                  <a:srgbClr val="EAF0F7"/>
                </a:solidFill>
                <a:latin typeface="Arial Black"/>
                <a:ea typeface="Arial Black"/>
                <a:cs typeface="Arial Black"/>
                <a:sym typeface="Arial Black"/>
              </a:rPr>
              <a:t>gente </a:t>
            </a:r>
            <a:r>
              <a:rPr lang="en-US" sz="2900">
                <a:solidFill>
                  <a:srgbClr val="EAF0F7"/>
                </a:solidFill>
                <a:latin typeface="Arial Black"/>
                <a:ea typeface="Arial Black"/>
                <a:cs typeface="Arial Black"/>
                <a:sym typeface="Arial Black"/>
              </a:rPr>
              <a:t>vê</a:t>
            </a:r>
            <a:r>
              <a:rPr b="0" i="0" lang="en-US" sz="2900" u="none" cap="none" strike="noStrike">
                <a:solidFill>
                  <a:srgbClr val="EAF0F7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sz="2900">
                <a:solidFill>
                  <a:srgbClr val="19D3C5"/>
                </a:solidFill>
                <a:latin typeface="Arial Black"/>
                <a:ea typeface="Arial Black"/>
                <a:cs typeface="Arial Black"/>
                <a:sym typeface="Arial Black"/>
              </a:rPr>
              <a:t>a</a:t>
            </a:r>
            <a:r>
              <a:rPr b="0" i="0" lang="en-US" sz="2900" u="none" cap="none" strike="noStrike">
                <a:solidFill>
                  <a:srgbClr val="19D3C5"/>
                </a:solidFill>
                <a:latin typeface="Arial Black"/>
                <a:ea typeface="Arial Black"/>
                <a:cs typeface="Arial Black"/>
                <a:sym typeface="Arial Black"/>
              </a:rPr>
              <a:t>penas </a:t>
            </a:r>
            <a:r>
              <a:rPr lang="en-US" sz="2900">
                <a:solidFill>
                  <a:srgbClr val="19D3C5"/>
                </a:solidFill>
                <a:latin typeface="Arial Black"/>
                <a:ea typeface="Arial Black"/>
                <a:cs typeface="Arial Black"/>
                <a:sym typeface="Arial Black"/>
              </a:rPr>
              <a:t>c</a:t>
            </a:r>
            <a:r>
              <a:rPr b="0" i="0" lang="en-US" sz="2900" u="none" cap="none" strike="noStrike">
                <a:solidFill>
                  <a:srgbClr val="19D3C5"/>
                </a:solidFill>
                <a:latin typeface="Arial Black"/>
                <a:ea typeface="Arial Black"/>
                <a:cs typeface="Arial Black"/>
                <a:sym typeface="Arial Black"/>
              </a:rPr>
              <a:t>ones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640080" y="1783080"/>
            <a:ext cx="4572000" cy="4434840"/>
          </a:xfrm>
          <a:prstGeom prst="roundRect">
            <a:avLst>
              <a:gd fmla="val 1856" name="adj"/>
            </a:avLst>
          </a:prstGeom>
          <a:solidFill>
            <a:srgbClr val="151D2C"/>
          </a:solidFill>
          <a:ln cap="flat" cmpd="sng" w="12700">
            <a:solidFill>
              <a:srgbClr val="2C3A57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sessions/happy-vibrant-turing/mnt/outputs/fig/fig_sensor.png" id="106" name="Google Shape;10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4672" y="1993392"/>
            <a:ext cx="41148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4"/>
          <p:cNvSpPr/>
          <p:nvPr/>
        </p:nvSpPr>
        <p:spPr>
          <a:xfrm>
            <a:off x="822960" y="5687568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3A1B5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FOV 180 - alcance 15 m - 3 cones mais proximos por cor/lado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5532120" y="1783080"/>
            <a:ext cx="6035040" cy="1389888"/>
          </a:xfrm>
          <a:prstGeom prst="roundRect">
            <a:avLst>
              <a:gd fmla="val 5921" name="adj"/>
            </a:avLst>
          </a:prstGeom>
          <a:solidFill>
            <a:srgbClr val="151D2C"/>
          </a:solidFill>
          <a:ln cap="flat" cmpd="sng" w="12700">
            <a:solidFill>
              <a:srgbClr val="2C3A57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5779008" y="2029968"/>
            <a:ext cx="146304" cy="146304"/>
          </a:xfrm>
          <a:prstGeom prst="ellipse">
            <a:avLst/>
          </a:prstGeom>
          <a:solidFill>
            <a:srgbClr val="19D3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6053328" y="1929384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Observação</a:t>
            </a:r>
            <a:r>
              <a:rPr b="1" i="0" lang="en-US" sz="15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 - 24 dims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6053328" y="2313432"/>
            <a:ext cx="5349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3A1B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Estado do </a:t>
            </a:r>
            <a:r>
              <a:rPr lang="en-US" sz="1250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veículo</a:t>
            </a:r>
            <a:r>
              <a:rPr b="0" i="0" lang="en-US" sz="125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 (6) + 3 cones por cor (18). Sem centerline: </a:t>
            </a:r>
            <a:r>
              <a:rPr lang="en-US" sz="1250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só</a:t>
            </a:r>
            <a:r>
              <a:rPr b="0" i="0" lang="en-US" sz="125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50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perceção</a:t>
            </a:r>
            <a:r>
              <a:rPr b="0" i="0" lang="en-US" sz="125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 local, tal como o carro real.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5532120" y="3300996"/>
            <a:ext cx="6035100" cy="1389900"/>
          </a:xfrm>
          <a:prstGeom prst="roundRect">
            <a:avLst>
              <a:gd fmla="val 5921" name="adj"/>
            </a:avLst>
          </a:prstGeom>
          <a:solidFill>
            <a:srgbClr val="151D2C"/>
          </a:solidFill>
          <a:ln cap="flat" cmpd="sng" w="12700">
            <a:solidFill>
              <a:srgbClr val="2C3A57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5779008" y="3547872"/>
            <a:ext cx="146304" cy="146304"/>
          </a:xfrm>
          <a:prstGeom prst="ellipse">
            <a:avLst/>
          </a:prstGeom>
          <a:solidFill>
            <a:srgbClr val="FF7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6053328" y="3447288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Ação</a:t>
            </a:r>
            <a:r>
              <a:rPr b="1" i="0" lang="en-US" sz="15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 - 2 dims </a:t>
            </a:r>
            <a:r>
              <a:rPr b="1" lang="en-US" sz="1500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contínuas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6053328" y="3831336"/>
            <a:ext cx="53493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3A1B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Steering + throttle unificado em [-1, 1].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5532120" y="4818888"/>
            <a:ext cx="6035040" cy="1389888"/>
          </a:xfrm>
          <a:prstGeom prst="roundRect">
            <a:avLst>
              <a:gd fmla="val 5921" name="adj"/>
            </a:avLst>
          </a:prstGeom>
          <a:solidFill>
            <a:srgbClr val="151D2C"/>
          </a:solidFill>
          <a:ln cap="flat" cmpd="sng" w="12700">
            <a:solidFill>
              <a:srgbClr val="2C3A57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5779008" y="5065776"/>
            <a:ext cx="146304" cy="146304"/>
          </a:xfrm>
          <a:prstGeom prst="ellipse">
            <a:avLst/>
          </a:prstGeom>
          <a:solidFill>
            <a:srgbClr val="9D7B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6053328" y="4965192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Recompensa (shaping)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6053328" y="5349240"/>
            <a:ext cx="5349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3A1B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Progresso x2.0 - alignment x0.4 - (-8) por cone - (+200) por volta completa.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1B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FORMULA STUDENT DRIVERLESS  -  APRENDIZAGEM POR REFORCO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10271455" y="64465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2D55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2D55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r>
              <a:rPr b="0" i="0" lang="en-US" sz="90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 / 1</a:t>
            </a:r>
            <a:r>
              <a:rPr lang="en-US" sz="900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" name="Google Shape;122;p4"/>
          <p:cNvCxnSpPr/>
          <p:nvPr/>
        </p:nvCxnSpPr>
        <p:spPr>
          <a:xfrm flipH="1" rot="10800000">
            <a:off x="10472238" y="3450863"/>
            <a:ext cx="5400" cy="578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" name="Google Shape;123;p4"/>
          <p:cNvCxnSpPr/>
          <p:nvPr/>
        </p:nvCxnSpPr>
        <p:spPr>
          <a:xfrm>
            <a:off x="10481950" y="4026275"/>
            <a:ext cx="532800" cy="1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" name="Google Shape;124;p4"/>
          <p:cNvCxnSpPr/>
          <p:nvPr/>
        </p:nvCxnSpPr>
        <p:spPr>
          <a:xfrm>
            <a:off x="10482550" y="4038013"/>
            <a:ext cx="2100" cy="5559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" name="Google Shape;125;p4"/>
          <p:cNvCxnSpPr/>
          <p:nvPr/>
        </p:nvCxnSpPr>
        <p:spPr>
          <a:xfrm flipH="1">
            <a:off x="9930325" y="4029575"/>
            <a:ext cx="535500" cy="7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6" name="Google Shape;126;p4"/>
          <p:cNvSpPr txBox="1"/>
          <p:nvPr/>
        </p:nvSpPr>
        <p:spPr>
          <a:xfrm>
            <a:off x="9861900" y="4007077"/>
            <a:ext cx="267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>
                <a:solidFill>
                  <a:schemeClr val="lt1"/>
                </a:solidFill>
              </a:rPr>
              <a:t>-1</a:t>
            </a:r>
            <a:endParaRPr b="1" sz="700">
              <a:solidFill>
                <a:schemeClr val="lt1"/>
              </a:solidFill>
            </a:endParaRPr>
          </a:p>
        </p:txBody>
      </p:sp>
      <p:sp>
        <p:nvSpPr>
          <p:cNvPr id="127" name="Google Shape;127;p4"/>
          <p:cNvSpPr txBox="1"/>
          <p:nvPr/>
        </p:nvSpPr>
        <p:spPr>
          <a:xfrm>
            <a:off x="10821000" y="3984825"/>
            <a:ext cx="2415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>
                <a:solidFill>
                  <a:schemeClr val="lt1"/>
                </a:solidFill>
              </a:rPr>
              <a:t>1</a:t>
            </a:r>
            <a:endParaRPr b="1" sz="900">
              <a:solidFill>
                <a:schemeClr val="lt1"/>
              </a:solidFill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10232600" y="3413763"/>
            <a:ext cx="213900" cy="2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>
                <a:solidFill>
                  <a:schemeClr val="lt1"/>
                </a:solidFill>
              </a:rPr>
              <a:t>1</a:t>
            </a:r>
            <a:endParaRPr b="1" sz="700">
              <a:solidFill>
                <a:schemeClr val="lt1"/>
              </a:solidFill>
            </a:endParaRPr>
          </a:p>
        </p:txBody>
      </p:sp>
      <p:sp>
        <p:nvSpPr>
          <p:cNvPr id="129" name="Google Shape;129;p4"/>
          <p:cNvSpPr txBox="1"/>
          <p:nvPr/>
        </p:nvSpPr>
        <p:spPr>
          <a:xfrm>
            <a:off x="10194500" y="4409425"/>
            <a:ext cx="2901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>
                <a:solidFill>
                  <a:schemeClr val="lt1"/>
                </a:solidFill>
              </a:rPr>
              <a:t>-1</a:t>
            </a:r>
            <a:endParaRPr b="1" sz="700">
              <a:solidFill>
                <a:schemeClr val="lt1"/>
              </a:solidFill>
            </a:endParaRPr>
          </a:p>
        </p:txBody>
      </p:sp>
      <p:sp>
        <p:nvSpPr>
          <p:cNvPr id="130" name="Google Shape;130;p4"/>
          <p:cNvSpPr txBox="1"/>
          <p:nvPr/>
        </p:nvSpPr>
        <p:spPr>
          <a:xfrm>
            <a:off x="10534450" y="3343100"/>
            <a:ext cx="570600" cy="2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>
                <a:solidFill>
                  <a:schemeClr val="lt1"/>
                </a:solidFill>
              </a:rPr>
              <a:t>Steering </a:t>
            </a:r>
            <a:endParaRPr b="1" sz="700">
              <a:solidFill>
                <a:schemeClr val="lt1"/>
              </a:solidFill>
            </a:endParaRPr>
          </a:p>
        </p:txBody>
      </p:sp>
      <p:sp>
        <p:nvSpPr>
          <p:cNvPr id="131" name="Google Shape;131;p4"/>
          <p:cNvSpPr txBox="1"/>
          <p:nvPr/>
        </p:nvSpPr>
        <p:spPr>
          <a:xfrm>
            <a:off x="10821000" y="3771275"/>
            <a:ext cx="532800" cy="2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">
                <a:solidFill>
                  <a:schemeClr val="lt1"/>
                </a:solidFill>
              </a:rPr>
              <a:t>Throttle</a:t>
            </a:r>
            <a:endParaRPr b="1" sz="700">
              <a:solidFill>
                <a:schemeClr val="lt1"/>
              </a:solidFill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10435625" y="3972650"/>
            <a:ext cx="103200" cy="111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"/>
          <p:cNvSpPr/>
          <p:nvPr/>
        </p:nvSpPr>
        <p:spPr>
          <a:xfrm>
            <a:off x="640080" y="603504"/>
            <a:ext cx="155448" cy="15544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914400" y="475488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1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7A1A"/>
                </a:solidFill>
                <a:latin typeface="Calibri"/>
                <a:ea typeface="Calibri"/>
                <a:cs typeface="Calibri"/>
                <a:sym typeface="Calibri"/>
              </a:rPr>
              <a:t>04 - METODOLOGIA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640080" y="932688"/>
            <a:ext cx="10972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2900"/>
              <a:buFont typeface="Arial Black"/>
              <a:buNone/>
            </a:pPr>
            <a:r>
              <a:rPr b="0" i="0" lang="en-US" sz="2900" u="none" cap="none" strike="noStrike">
                <a:solidFill>
                  <a:srgbClr val="EAF0F7"/>
                </a:solidFill>
                <a:latin typeface="Arial Black"/>
                <a:ea typeface="Arial Black"/>
                <a:cs typeface="Arial Black"/>
                <a:sym typeface="Arial Black"/>
              </a:rPr>
              <a:t>SAC como agente principal, </a:t>
            </a:r>
            <a:r>
              <a:rPr b="0" i="0" lang="en-US" sz="2900" u="none" cap="none" strike="noStrike">
                <a:solidFill>
                  <a:srgbClr val="FF7A1A"/>
                </a:solidFill>
                <a:latin typeface="Arial Black"/>
                <a:ea typeface="Arial Black"/>
                <a:cs typeface="Arial Black"/>
                <a:sym typeface="Arial Black"/>
              </a:rPr>
              <a:t>PPO como baseline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640080" y="1783080"/>
            <a:ext cx="5349240" cy="3703320"/>
          </a:xfrm>
          <a:prstGeom prst="roundRect">
            <a:avLst>
              <a:gd fmla="val 2222" name="adj"/>
            </a:avLst>
          </a:prstGeom>
          <a:solidFill>
            <a:srgbClr val="151D2C"/>
          </a:solidFill>
          <a:ln cap="flat" cmpd="sng" w="12700">
            <a:solidFill>
              <a:srgbClr val="2C3A57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640080" y="1783080"/>
            <a:ext cx="5349240" cy="566928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914400" y="1783080"/>
            <a:ext cx="4937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231F"/>
              </a:buClr>
              <a:buSzPts val="1500"/>
              <a:buFont typeface="Arial Black"/>
              <a:buNone/>
            </a:pPr>
            <a:r>
              <a:rPr b="0" i="0" lang="en-US" sz="1500" u="none" cap="none" strike="noStrike">
                <a:solidFill>
                  <a:srgbClr val="06231F"/>
                </a:solidFill>
                <a:latin typeface="Arial Black"/>
                <a:ea typeface="Arial Black"/>
                <a:cs typeface="Arial Black"/>
                <a:sym typeface="Arial Black"/>
              </a:rPr>
              <a:t>SAC  -  AGENTE PRINCIPAL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932688" y="2542032"/>
            <a:ext cx="475488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350"/>
              <a:buFont typeface="Calibri"/>
              <a:buChar char="•"/>
            </a:pPr>
            <a:r>
              <a:rPr b="1" i="0" lang="en-US" sz="135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Off-policy com </a:t>
            </a:r>
            <a:r>
              <a:rPr b="1" lang="en-US" sz="1350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maximização</a:t>
            </a:r>
            <a:r>
              <a:rPr b="1" i="0" lang="en-US" sz="135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 de entropia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Twin Q-networks (MLP 256x256) + target Polyak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Replay buffer de 1M - auto-tuning de alpha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Target entropy -0.5 (evita colapso prematuro)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9D3C5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9D3C5"/>
                </a:solidFill>
                <a:latin typeface="Calibri"/>
                <a:ea typeface="Calibri"/>
                <a:cs typeface="Calibri"/>
                <a:sym typeface="Calibri"/>
              </a:rPr>
              <a:t>-&gt; amostra-eficiente: converge em 3M de steps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6172200" y="1783080"/>
            <a:ext cx="5376672" cy="3703320"/>
          </a:xfrm>
          <a:prstGeom prst="roundRect">
            <a:avLst>
              <a:gd fmla="val 2222" name="adj"/>
            </a:avLst>
          </a:prstGeom>
          <a:solidFill>
            <a:srgbClr val="151D2C"/>
          </a:solidFill>
          <a:ln cap="flat" cmpd="sng" w="12700">
            <a:solidFill>
              <a:srgbClr val="2C3A57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6172200" y="1783080"/>
            <a:ext cx="5376672" cy="56692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6446520" y="1783080"/>
            <a:ext cx="4937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01200"/>
              </a:buClr>
              <a:buSzPts val="1500"/>
              <a:buFont typeface="Arial Black"/>
              <a:buNone/>
            </a:pPr>
            <a:r>
              <a:rPr b="0" i="0" lang="en-US" sz="1500" u="none" cap="none" strike="noStrike">
                <a:solidFill>
                  <a:srgbClr val="301200"/>
                </a:solidFill>
                <a:latin typeface="Arial Black"/>
                <a:ea typeface="Arial Black"/>
                <a:cs typeface="Arial Black"/>
                <a:sym typeface="Arial Black"/>
              </a:rPr>
              <a:t>PPO  -  BASELINE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6464808" y="2542032"/>
            <a:ext cx="48006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350"/>
              <a:buFont typeface="Calibri"/>
              <a:buChar char="•"/>
            </a:pPr>
            <a:r>
              <a:rPr b="1" i="0" lang="en-US" sz="135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On-policy, clipped surrogate objective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Mesma arquitetura de rede (comparacao justa)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Via Stable-Baselines3, treino vetorizado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Mais robusto, mas menos amostra-eficiente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F7A1A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FF7A1A"/>
                </a:solidFill>
                <a:latin typeface="Calibri"/>
                <a:ea typeface="Calibri"/>
                <a:cs typeface="Calibri"/>
                <a:sym typeface="Calibri"/>
              </a:rPr>
              <a:t>-&gt; precisa do dobro dos steps (6M)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640080" y="5687568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Comum a ambos:  </a:t>
            </a:r>
            <a:r>
              <a:rPr b="0" i="0" lang="en-US" sz="125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MDP com gama = 0.99   -   domain randomization   -   mesmas observacoes e recompensa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1B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FORMULA STUDENT DRIVERLESS  -  APRENDIZAGEM POR REFORCO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10271455" y="64465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2D55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2D55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r>
              <a:rPr b="0" i="0" lang="en-US" sz="90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 / 1</a:t>
            </a:r>
            <a:r>
              <a:rPr lang="en-US" sz="900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"/>
          <p:cNvSpPr/>
          <p:nvPr/>
        </p:nvSpPr>
        <p:spPr>
          <a:xfrm>
            <a:off x="640080" y="603504"/>
            <a:ext cx="155448" cy="155448"/>
          </a:xfrm>
          <a:prstGeom prst="rect">
            <a:avLst/>
          </a:prstGeom>
          <a:solidFill>
            <a:srgbClr val="9D7B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914400" y="475488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7B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9D7BFF"/>
                </a:solidFill>
                <a:latin typeface="Calibri"/>
                <a:ea typeface="Calibri"/>
                <a:cs typeface="Calibri"/>
                <a:sym typeface="Calibri"/>
              </a:rPr>
              <a:t>05 - PROTOCOLO EXPERIMENTAL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640080" y="932688"/>
            <a:ext cx="10972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2900"/>
              <a:buFont typeface="Arial Black"/>
              <a:buNone/>
            </a:pPr>
            <a:r>
              <a:rPr b="0" i="0" lang="en-US" sz="2900" u="none" cap="none" strike="noStrike">
                <a:solidFill>
                  <a:srgbClr val="EAF0F7"/>
                </a:solidFill>
                <a:latin typeface="Arial Black"/>
                <a:ea typeface="Arial Black"/>
                <a:cs typeface="Arial Black"/>
                <a:sym typeface="Arial Black"/>
              </a:rPr>
              <a:t>Como </a:t>
            </a:r>
            <a:r>
              <a:rPr lang="en-US" sz="2900">
                <a:solidFill>
                  <a:srgbClr val="9D7BFF"/>
                </a:solidFill>
                <a:latin typeface="Arial Black"/>
                <a:ea typeface="Arial Black"/>
                <a:cs typeface="Arial Black"/>
                <a:sym typeface="Arial Black"/>
              </a:rPr>
              <a:t>validamos?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640080" y="1783080"/>
            <a:ext cx="2697480" cy="2743200"/>
          </a:xfrm>
          <a:prstGeom prst="roundRect">
            <a:avLst>
              <a:gd fmla="val 3051" name="adj"/>
            </a:avLst>
          </a:prstGeom>
          <a:solidFill>
            <a:srgbClr val="151D2C"/>
          </a:solidFill>
          <a:ln cap="flat" cmpd="sng" w="12700">
            <a:solidFill>
              <a:srgbClr val="2C3A57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914400" y="2057400"/>
            <a:ext cx="457200" cy="457200"/>
          </a:xfrm>
          <a:prstGeom prst="ellipse">
            <a:avLst/>
          </a:prstGeom>
          <a:solidFill>
            <a:srgbClr val="1C2740"/>
          </a:solidFill>
          <a:ln cap="flat" cmpd="sng" w="25400">
            <a:solidFill>
              <a:srgbClr val="19D3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914400" y="2057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9D3C5"/>
              </a:buClr>
              <a:buSzPts val="1700"/>
              <a:buFont typeface="Arial Black"/>
              <a:buNone/>
            </a:pPr>
            <a:r>
              <a:rPr b="0" i="0" lang="en-US" sz="1700" u="none" cap="none" strike="noStrike">
                <a:solidFill>
                  <a:srgbClr val="19D3C5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896112" y="2743200"/>
            <a:ext cx="2240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Splits canonicos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896112" y="3456432"/>
            <a:ext cx="22402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3A1B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9 pistas treino  </a:t>
            </a:r>
            <a:r>
              <a:rPr lang="en-US" sz="1200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0" lang="en-US" sz="120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  5 pistas teste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3447288" y="1783080"/>
            <a:ext cx="2697480" cy="2743200"/>
          </a:xfrm>
          <a:prstGeom prst="roundRect">
            <a:avLst>
              <a:gd fmla="val 3051" name="adj"/>
            </a:avLst>
          </a:prstGeom>
          <a:solidFill>
            <a:srgbClr val="151D2C"/>
          </a:solidFill>
          <a:ln cap="flat" cmpd="sng" w="12700">
            <a:solidFill>
              <a:srgbClr val="2C3A57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3721608" y="2057400"/>
            <a:ext cx="457200" cy="457200"/>
          </a:xfrm>
          <a:prstGeom prst="ellipse">
            <a:avLst/>
          </a:prstGeom>
          <a:solidFill>
            <a:srgbClr val="1C2740"/>
          </a:solidFill>
          <a:ln cap="flat" cmpd="sng" w="25400">
            <a:solidFill>
              <a:srgbClr val="FF2D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3721608" y="2057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2D55"/>
              </a:buClr>
              <a:buSzPts val="1700"/>
              <a:buFont typeface="Arial Black"/>
              <a:buNone/>
            </a:pPr>
            <a:r>
              <a:rPr b="0" i="0" lang="en-US" sz="1700" u="none" cap="none" strike="noStrike">
                <a:solidFill>
                  <a:srgbClr val="FF2D55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3703320" y="2743200"/>
            <a:ext cx="2240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Pistas espelhadas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3703320" y="3456432"/>
            <a:ext cx="22402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3A1B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Held-out em Y - teste de </a:t>
            </a:r>
            <a:r>
              <a:rPr lang="en-US" sz="1200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viés</a:t>
            </a:r>
            <a:r>
              <a:rPr b="0" i="0" lang="en-US" sz="120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 direcional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6254496" y="1783080"/>
            <a:ext cx="2697480" cy="2743200"/>
          </a:xfrm>
          <a:prstGeom prst="roundRect">
            <a:avLst>
              <a:gd fmla="val 3051" name="adj"/>
            </a:avLst>
          </a:prstGeom>
          <a:solidFill>
            <a:srgbClr val="151D2C"/>
          </a:solidFill>
          <a:ln cap="flat" cmpd="sng" w="12700">
            <a:solidFill>
              <a:srgbClr val="2C3A57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"/>
          <p:cNvSpPr/>
          <p:nvPr/>
        </p:nvSpPr>
        <p:spPr>
          <a:xfrm>
            <a:off x="6528816" y="2057400"/>
            <a:ext cx="457200" cy="457200"/>
          </a:xfrm>
          <a:prstGeom prst="ellipse">
            <a:avLst/>
          </a:prstGeom>
          <a:solidFill>
            <a:srgbClr val="1C2740"/>
          </a:solidFill>
          <a:ln cap="flat" cmpd="sng" w="25400">
            <a:solidFill>
              <a:srgbClr val="FF7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"/>
          <p:cNvSpPr/>
          <p:nvPr/>
        </p:nvSpPr>
        <p:spPr>
          <a:xfrm>
            <a:off x="6528816" y="2057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7A1A"/>
              </a:buClr>
              <a:buSzPts val="1700"/>
              <a:buFont typeface="Arial Black"/>
              <a:buNone/>
            </a:pPr>
            <a:r>
              <a:rPr b="0" i="0" lang="en-US" sz="1700" u="none" cap="none" strike="noStrike">
                <a:solidFill>
                  <a:srgbClr val="FF7A1A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6510528" y="2743200"/>
            <a:ext cx="2240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Multi-seed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6510528" y="3456432"/>
            <a:ext cx="22402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3A1B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SAC 3M x 3 seeds  -  PPO 6M x 3 seeds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9061704" y="1783080"/>
            <a:ext cx="2697480" cy="2743200"/>
          </a:xfrm>
          <a:prstGeom prst="roundRect">
            <a:avLst>
              <a:gd fmla="val 3051" name="adj"/>
            </a:avLst>
          </a:prstGeom>
          <a:solidFill>
            <a:srgbClr val="151D2C"/>
          </a:solidFill>
          <a:ln cap="flat" cmpd="sng" w="12700">
            <a:solidFill>
              <a:srgbClr val="2C3A57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"/>
          <p:cNvSpPr/>
          <p:nvPr/>
        </p:nvSpPr>
        <p:spPr>
          <a:xfrm>
            <a:off x="9336024" y="2057400"/>
            <a:ext cx="457200" cy="457200"/>
          </a:xfrm>
          <a:prstGeom prst="ellipse">
            <a:avLst/>
          </a:prstGeom>
          <a:solidFill>
            <a:srgbClr val="1C2740"/>
          </a:solidFill>
          <a:ln cap="flat" cmpd="sng" w="25400">
            <a:solidFill>
              <a:srgbClr val="9D7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"/>
          <p:cNvSpPr/>
          <p:nvPr/>
        </p:nvSpPr>
        <p:spPr>
          <a:xfrm>
            <a:off x="9336024" y="2057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D7BFF"/>
              </a:buClr>
              <a:buSzPts val="1700"/>
              <a:buFont typeface="Arial Black"/>
              <a:buNone/>
            </a:pPr>
            <a:r>
              <a:rPr b="0" i="0" lang="en-US" sz="1700" u="none" cap="none" strike="noStrike">
                <a:solidFill>
                  <a:srgbClr val="9D7BFF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9317736" y="2743200"/>
            <a:ext cx="2240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15 </a:t>
            </a:r>
            <a:r>
              <a:rPr b="1" lang="en-US" sz="1550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ablações</a:t>
            </a:r>
            <a:r>
              <a:rPr b="1" i="0" lang="en-US" sz="155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 controladas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9317736" y="3456432"/>
            <a:ext cx="22402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93A1B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Reward - DR - sensor - </a:t>
            </a:r>
            <a:r>
              <a:rPr b="0" i="0" lang="en-US" sz="120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hiperpar</a:t>
            </a:r>
            <a:r>
              <a:rPr lang="en-US" sz="1200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â</a:t>
            </a:r>
            <a:r>
              <a:rPr b="0" i="0" lang="en-US" sz="120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metros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640080" y="4754880"/>
            <a:ext cx="10908792" cy="1280160"/>
          </a:xfrm>
          <a:prstGeom prst="roundRect">
            <a:avLst>
              <a:gd fmla="val 6429" name="adj"/>
            </a:avLst>
          </a:prstGeom>
          <a:solidFill>
            <a:srgbClr val="1C2740"/>
          </a:solidFill>
          <a:ln cap="flat" cmpd="sng" w="12700">
            <a:solidFill>
              <a:srgbClr val="2C3A57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"/>
          <p:cNvSpPr/>
          <p:nvPr/>
        </p:nvSpPr>
        <p:spPr>
          <a:xfrm>
            <a:off x="1005840" y="4754880"/>
            <a:ext cx="101498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7B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9D7BFF"/>
                </a:solidFill>
                <a:latin typeface="Calibri"/>
                <a:ea typeface="Calibri"/>
                <a:cs typeface="Calibri"/>
                <a:sym typeface="Calibri"/>
              </a:rPr>
              <a:t>METRICAS  </a:t>
            </a:r>
            <a:r>
              <a:rPr b="0" i="0" lang="en-US" sz="14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lap rate (voltas completas)  -  cones derrubados  -  velocidade media  -  tempo de volta   -   por pista (media +/- desvio)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1B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FORMULA STUDENT DRIVERLESS  -  APRENDIZAGEM POR REFORCO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10271455" y="64465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2D55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2D55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r>
              <a:rPr b="0" i="0" lang="en-US" sz="90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 / 1</a:t>
            </a:r>
            <a:r>
              <a:rPr lang="en-US" sz="900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"/>
          <p:cNvSpPr/>
          <p:nvPr/>
        </p:nvSpPr>
        <p:spPr>
          <a:xfrm>
            <a:off x="640080" y="603504"/>
            <a:ext cx="155448" cy="155448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914400" y="475488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D3C5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9D3C5"/>
                </a:solidFill>
                <a:latin typeface="Calibri"/>
                <a:ea typeface="Calibri"/>
                <a:cs typeface="Calibri"/>
                <a:sym typeface="Calibri"/>
              </a:rPr>
              <a:t>06 - RESULTADOS - APRENDIZAGEM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640080" y="932688"/>
            <a:ext cx="10972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2900"/>
              <a:buFont typeface="Arial Black"/>
              <a:buNone/>
            </a:pPr>
            <a:r>
              <a:rPr b="0" i="0" lang="en-US" sz="2900" u="none" cap="none" strike="noStrike">
                <a:solidFill>
                  <a:srgbClr val="EAF0F7"/>
                </a:solidFill>
                <a:latin typeface="Arial Black"/>
                <a:ea typeface="Arial Black"/>
                <a:cs typeface="Arial Black"/>
                <a:sym typeface="Arial Black"/>
              </a:rPr>
              <a:t>SAC aprende </a:t>
            </a:r>
            <a:r>
              <a:rPr b="0" i="0" lang="en-US" sz="2900" u="none" cap="none" strike="noStrike">
                <a:solidFill>
                  <a:srgbClr val="19D3C5"/>
                </a:solidFill>
                <a:latin typeface="Arial Black"/>
                <a:ea typeface="Arial Black"/>
                <a:cs typeface="Arial Black"/>
                <a:sym typeface="Arial Black"/>
              </a:rPr>
              <a:t>mais depressa e mais </a:t>
            </a:r>
            <a:r>
              <a:rPr lang="en-US" sz="2900">
                <a:solidFill>
                  <a:srgbClr val="19D3C5"/>
                </a:solidFill>
                <a:latin typeface="Arial Black"/>
                <a:ea typeface="Arial Black"/>
                <a:cs typeface="Arial Black"/>
                <a:sym typeface="Arial Black"/>
              </a:rPr>
              <a:t>estável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happy-vibrant-turing/mnt/outputs/fig/fig_learning.png" id="192" name="Google Shape;19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" y="1691640"/>
            <a:ext cx="11155680" cy="3776472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7"/>
          <p:cNvSpPr/>
          <p:nvPr/>
        </p:nvSpPr>
        <p:spPr>
          <a:xfrm>
            <a:off x="640080" y="5715000"/>
            <a:ext cx="5394960" cy="457200"/>
          </a:xfrm>
          <a:prstGeom prst="roundRect">
            <a:avLst>
              <a:gd fmla="val 50000" name="adj"/>
            </a:avLst>
          </a:prstGeom>
          <a:solidFill>
            <a:srgbClr val="1C2740"/>
          </a:solidFill>
          <a:ln cap="flat" cmpd="sng" w="12700">
            <a:solidFill>
              <a:srgbClr val="19D3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"/>
          <p:cNvSpPr/>
          <p:nvPr/>
        </p:nvSpPr>
        <p:spPr>
          <a:xfrm>
            <a:off x="804672" y="5888736"/>
            <a:ext cx="118872" cy="118872"/>
          </a:xfrm>
          <a:prstGeom prst="ellipse">
            <a:avLst/>
          </a:prstGeom>
          <a:solidFill>
            <a:srgbClr val="19D3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"/>
          <p:cNvSpPr/>
          <p:nvPr/>
        </p:nvSpPr>
        <p:spPr>
          <a:xfrm>
            <a:off x="1024128" y="571500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SAC atinge maior reward com metade dos steps (3M vs 6M)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6217920" y="5715000"/>
            <a:ext cx="5394960" cy="457200"/>
          </a:xfrm>
          <a:prstGeom prst="roundRect">
            <a:avLst>
              <a:gd fmla="val 50000" name="adj"/>
            </a:avLst>
          </a:prstGeom>
          <a:solidFill>
            <a:srgbClr val="1C2740"/>
          </a:solidFill>
          <a:ln cap="flat" cmpd="sng" w="12700">
            <a:solidFill>
              <a:srgbClr val="FF7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7"/>
          <p:cNvSpPr/>
          <p:nvPr/>
        </p:nvSpPr>
        <p:spPr>
          <a:xfrm>
            <a:off x="6382512" y="5888736"/>
            <a:ext cx="118872" cy="118872"/>
          </a:xfrm>
          <a:prstGeom prst="ellipse">
            <a:avLst/>
          </a:prstGeom>
          <a:solidFill>
            <a:srgbClr val="FF7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"/>
          <p:cNvSpPr/>
          <p:nvPr/>
        </p:nvSpPr>
        <p:spPr>
          <a:xfrm>
            <a:off x="6601968" y="571500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Episódios</a:t>
            </a:r>
            <a:r>
              <a:rPr b="1" i="0" lang="en-US" sz="115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 mais longos = menos </a:t>
            </a:r>
            <a:r>
              <a:rPr b="1" lang="en-US" sz="1150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terminações precoces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1B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FORMULA STUDENT DRIVERLESS  -  APRENDIZAGEM POR REFORCO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10271455" y="64465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2D55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2D55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r>
              <a:rPr b="0" i="0" lang="en-US" sz="90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 / 1</a:t>
            </a:r>
            <a:r>
              <a:rPr lang="en-US" sz="900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"/>
          <p:cNvSpPr/>
          <p:nvPr/>
        </p:nvSpPr>
        <p:spPr>
          <a:xfrm>
            <a:off x="640080" y="603504"/>
            <a:ext cx="155448" cy="15544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"/>
          <p:cNvSpPr/>
          <p:nvPr/>
        </p:nvSpPr>
        <p:spPr>
          <a:xfrm>
            <a:off x="914400" y="475488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1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7A1A"/>
                </a:solidFill>
                <a:latin typeface="Calibri"/>
                <a:ea typeface="Calibri"/>
                <a:cs typeface="Calibri"/>
                <a:sym typeface="Calibri"/>
              </a:rPr>
              <a:t>07 - RESULTADOS - SAC vs PPO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640080" y="932688"/>
            <a:ext cx="10972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1A"/>
              </a:buClr>
              <a:buSzPts val="2900"/>
              <a:buFont typeface="Arial Black"/>
              <a:buNone/>
            </a:pPr>
            <a:r>
              <a:rPr b="0" i="0" lang="en-US" sz="2900" u="none" cap="none" strike="noStrike">
                <a:solidFill>
                  <a:srgbClr val="FF7A1A"/>
                </a:solidFill>
                <a:latin typeface="Arial Black"/>
                <a:ea typeface="Arial Black"/>
                <a:cs typeface="Arial Black"/>
                <a:sym typeface="Arial Black"/>
              </a:rPr>
              <a:t>Velocidade </a:t>
            </a:r>
            <a:r>
              <a:rPr b="0" i="0" lang="en-US" sz="2900" u="none" cap="none" strike="noStrike">
                <a:solidFill>
                  <a:srgbClr val="EAF0F7"/>
                </a:solidFill>
                <a:latin typeface="Arial Black"/>
                <a:ea typeface="Arial Black"/>
                <a:cs typeface="Arial Black"/>
                <a:sym typeface="Arial Black"/>
              </a:rPr>
              <a:t>vs </a:t>
            </a:r>
            <a:r>
              <a:rPr lang="en-US" sz="2900">
                <a:solidFill>
                  <a:srgbClr val="19D3C5"/>
                </a:solidFill>
                <a:latin typeface="Arial Black"/>
                <a:ea typeface="Arial Black"/>
                <a:cs typeface="Arial Black"/>
                <a:sym typeface="Arial Black"/>
              </a:rPr>
              <a:t>S</a:t>
            </a:r>
            <a:r>
              <a:rPr b="0" i="0" lang="en-US" sz="2900" u="none" cap="none" strike="noStrike">
                <a:solidFill>
                  <a:srgbClr val="19D3C5"/>
                </a:solidFill>
                <a:latin typeface="Arial Black"/>
                <a:ea typeface="Arial Black"/>
                <a:cs typeface="Arial Black"/>
                <a:sym typeface="Arial Black"/>
              </a:rPr>
              <a:t>eguran</a:t>
            </a:r>
            <a:r>
              <a:rPr lang="en-US" sz="2900">
                <a:solidFill>
                  <a:srgbClr val="19D3C5"/>
                </a:solidFill>
                <a:latin typeface="Arial Black"/>
                <a:ea typeface="Arial Black"/>
                <a:cs typeface="Arial Black"/>
                <a:sym typeface="Arial Black"/>
              </a:rPr>
              <a:t>ç</a:t>
            </a:r>
            <a:r>
              <a:rPr b="0" i="0" lang="en-US" sz="2900" u="none" cap="none" strike="noStrike">
                <a:solidFill>
                  <a:srgbClr val="19D3C5"/>
                </a:solidFill>
                <a:latin typeface="Arial Black"/>
                <a:ea typeface="Arial Black"/>
                <a:cs typeface="Arial Black"/>
                <a:sym typeface="Arial Black"/>
              </a:rPr>
              <a:t>a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happy-vibrant-turing/mnt/outputs/fig/fig_sacppo.png" id="209" name="Google Shape;20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2011680"/>
            <a:ext cx="6720840" cy="2807208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8"/>
          <p:cNvSpPr/>
          <p:nvPr/>
        </p:nvSpPr>
        <p:spPr>
          <a:xfrm>
            <a:off x="7680960" y="1783080"/>
            <a:ext cx="3840480" cy="868680"/>
          </a:xfrm>
          <a:prstGeom prst="roundRect">
            <a:avLst>
              <a:gd fmla="val 9474" name="adj"/>
            </a:avLst>
          </a:prstGeom>
          <a:solidFill>
            <a:srgbClr val="151D2C"/>
          </a:solidFill>
          <a:ln cap="flat" cmpd="sng" w="12700">
            <a:solidFill>
              <a:srgbClr val="2C3A57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8"/>
          <p:cNvSpPr/>
          <p:nvPr/>
        </p:nvSpPr>
        <p:spPr>
          <a:xfrm>
            <a:off x="7882128" y="1783080"/>
            <a:ext cx="17830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D3C5"/>
              </a:buClr>
              <a:buSzPts val="3000"/>
              <a:buFont typeface="Arial Black"/>
              <a:buNone/>
            </a:pPr>
            <a:r>
              <a:rPr lang="en-US" sz="2000">
                <a:solidFill>
                  <a:srgbClr val="19D3C5"/>
                </a:solidFill>
                <a:latin typeface="Arial Black"/>
                <a:ea typeface="Arial Black"/>
                <a:cs typeface="Arial Black"/>
                <a:sym typeface="Arial Black"/>
              </a:rPr>
              <a:t>SAC </a:t>
            </a:r>
            <a:r>
              <a:rPr b="0" i="0" lang="en-US" sz="2000" u="none" cap="none" strike="noStrike">
                <a:solidFill>
                  <a:srgbClr val="19D3C5"/>
                </a:solidFill>
                <a:latin typeface="Arial Black"/>
                <a:ea typeface="Arial Black"/>
                <a:cs typeface="Arial Black"/>
                <a:sym typeface="Arial Black"/>
              </a:rPr>
              <a:t>2x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9601200" y="1783080"/>
            <a:ext cx="18288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menos cones derrubados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7680960" y="2788920"/>
            <a:ext cx="3840480" cy="868680"/>
          </a:xfrm>
          <a:prstGeom prst="roundRect">
            <a:avLst>
              <a:gd fmla="val 9474" name="adj"/>
            </a:avLst>
          </a:prstGeom>
          <a:solidFill>
            <a:srgbClr val="151D2C"/>
          </a:solidFill>
          <a:ln cap="flat" cmpd="sng" w="12700">
            <a:solidFill>
              <a:srgbClr val="2C3A57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7789075" y="2788850"/>
            <a:ext cx="17166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D3C5"/>
              </a:buClr>
              <a:buSzPts val="3000"/>
              <a:buFont typeface="Arial Black"/>
              <a:buNone/>
            </a:pPr>
            <a:r>
              <a:rPr lang="en-US" sz="2000">
                <a:solidFill>
                  <a:srgbClr val="19D3C5"/>
                </a:solidFill>
                <a:latin typeface="Arial Black"/>
                <a:ea typeface="Arial Black"/>
                <a:cs typeface="Arial Black"/>
                <a:sym typeface="Arial Black"/>
              </a:rPr>
              <a:t>SAC </a:t>
            </a:r>
            <a:r>
              <a:rPr b="0" i="0" lang="en-US" sz="2000" u="none" cap="none" strike="noStrike">
                <a:solidFill>
                  <a:srgbClr val="19D3C5"/>
                </a:solidFill>
                <a:latin typeface="Arial Black"/>
                <a:ea typeface="Arial Black"/>
                <a:cs typeface="Arial Black"/>
                <a:sym typeface="Arial Black"/>
              </a:rPr>
              <a:t>66±0%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9601200" y="2788920"/>
            <a:ext cx="18288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lap rate - 2.4 cones - 76 km/h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7680960" y="3794760"/>
            <a:ext cx="3840480" cy="868680"/>
          </a:xfrm>
          <a:prstGeom prst="roundRect">
            <a:avLst>
              <a:gd fmla="val 9474" name="adj"/>
            </a:avLst>
          </a:prstGeom>
          <a:solidFill>
            <a:srgbClr val="151D2C"/>
          </a:solidFill>
          <a:ln cap="flat" cmpd="sng" w="12700">
            <a:solidFill>
              <a:srgbClr val="2C3A57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8"/>
          <p:cNvSpPr/>
          <p:nvPr/>
        </p:nvSpPr>
        <p:spPr>
          <a:xfrm>
            <a:off x="7789075" y="3794750"/>
            <a:ext cx="17166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1A"/>
              </a:buClr>
              <a:buSzPts val="3000"/>
              <a:buFont typeface="Arial Black"/>
              <a:buNone/>
            </a:pPr>
            <a:r>
              <a:rPr lang="en-US" sz="2000">
                <a:solidFill>
                  <a:srgbClr val="FF7A1A"/>
                </a:solidFill>
                <a:latin typeface="Arial Black"/>
                <a:ea typeface="Arial Black"/>
                <a:cs typeface="Arial Black"/>
                <a:sym typeface="Arial Black"/>
              </a:rPr>
              <a:t>PPO </a:t>
            </a:r>
            <a:r>
              <a:rPr b="0" i="0" lang="en-US" sz="2000" u="none" cap="none" strike="noStrike">
                <a:solidFill>
                  <a:srgbClr val="FF7A1A"/>
                </a:solidFill>
                <a:latin typeface="Arial Black"/>
                <a:ea typeface="Arial Black"/>
                <a:cs typeface="Arial Black"/>
                <a:sym typeface="Arial Black"/>
              </a:rPr>
              <a:t>68±7%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9601200" y="3794760"/>
            <a:ext cx="18288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lap rate - 4.8 cones - 79 km/h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640080" y="5074920"/>
            <a:ext cx="10908792" cy="960120"/>
          </a:xfrm>
          <a:prstGeom prst="roundRect">
            <a:avLst>
              <a:gd fmla="val 8571" name="adj"/>
            </a:avLst>
          </a:prstGeom>
          <a:solidFill>
            <a:srgbClr val="1C2740"/>
          </a:solidFill>
          <a:ln cap="flat" cmpd="sng" w="12700">
            <a:solidFill>
              <a:srgbClr val="2C3A57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8"/>
          <p:cNvSpPr/>
          <p:nvPr/>
        </p:nvSpPr>
        <p:spPr>
          <a:xfrm>
            <a:off x="1005840" y="5074920"/>
            <a:ext cx="101498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A1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7A1A"/>
                </a:solidFill>
                <a:latin typeface="Calibri"/>
                <a:ea typeface="Calibri"/>
                <a:cs typeface="Calibri"/>
                <a:sym typeface="Calibri"/>
              </a:rPr>
              <a:t>Leitura:  </a:t>
            </a:r>
            <a:r>
              <a:rPr lang="en-US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Lap rate equivalente (66% vs 68%, dentro do ruído), mas o SAC derruba metade dos cones (2.4 vs 4.8) e é mais estável entre seeds. O PPO ganha ~3 km/h, à custa de ser mais agressivo.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1B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FORMULA STUDENT DRIVERLESS  -  APRENDIZAGEM POR REFORCO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10271455" y="64465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2D55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2D55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r>
              <a:rPr b="0" i="0" lang="en-US" sz="90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 / 1</a:t>
            </a:r>
            <a:r>
              <a:rPr lang="en-US" sz="900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"/>
          <p:cNvSpPr/>
          <p:nvPr/>
        </p:nvSpPr>
        <p:spPr>
          <a:xfrm>
            <a:off x="640080" y="603504"/>
            <a:ext cx="155448" cy="155448"/>
          </a:xfrm>
          <a:prstGeom prst="rect">
            <a:avLst/>
          </a:prstGeom>
          <a:solidFill>
            <a:srgbClr val="FF2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"/>
          <p:cNvSpPr/>
          <p:nvPr/>
        </p:nvSpPr>
        <p:spPr>
          <a:xfrm>
            <a:off x="914400" y="475488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2D55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2D55"/>
                </a:solidFill>
                <a:latin typeface="Calibri"/>
                <a:ea typeface="Calibri"/>
                <a:cs typeface="Calibri"/>
                <a:sym typeface="Calibri"/>
              </a:rPr>
              <a:t>08 - RESULTADOS - DESCOBERTA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640080" y="932688"/>
            <a:ext cx="10972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2900"/>
              <a:buFont typeface="Arial Black"/>
              <a:buNone/>
            </a:pPr>
            <a:r>
              <a:rPr b="0" i="0" lang="en-US" sz="2900" u="none" cap="none" strike="noStrike">
                <a:solidFill>
                  <a:srgbClr val="EAF0F7"/>
                </a:solidFill>
                <a:latin typeface="Arial Black"/>
                <a:ea typeface="Arial Black"/>
                <a:cs typeface="Arial Black"/>
                <a:sym typeface="Arial Black"/>
              </a:rPr>
              <a:t>Um </a:t>
            </a:r>
            <a:r>
              <a:rPr b="0" i="0" lang="en-US" sz="2900" u="none" cap="none" strike="noStrike">
                <a:solidFill>
                  <a:srgbClr val="FF2D55"/>
                </a:solidFill>
                <a:latin typeface="Arial Black"/>
                <a:ea typeface="Arial Black"/>
                <a:cs typeface="Arial Black"/>
                <a:sym typeface="Arial Black"/>
              </a:rPr>
              <a:t>vi</a:t>
            </a:r>
            <a:r>
              <a:rPr lang="en-US" sz="2900">
                <a:solidFill>
                  <a:srgbClr val="FF2D55"/>
                </a:solidFill>
                <a:latin typeface="Arial Black"/>
                <a:ea typeface="Arial Black"/>
                <a:cs typeface="Arial Black"/>
                <a:sym typeface="Arial Black"/>
              </a:rPr>
              <a:t>é</a:t>
            </a:r>
            <a:r>
              <a:rPr b="0" i="0" lang="en-US" sz="2900" u="none" cap="none" strike="noStrike">
                <a:solidFill>
                  <a:srgbClr val="FF2D55"/>
                </a:solidFill>
                <a:latin typeface="Arial Black"/>
                <a:ea typeface="Arial Black"/>
                <a:cs typeface="Arial Black"/>
                <a:sym typeface="Arial Black"/>
              </a:rPr>
              <a:t>s direcional</a:t>
            </a:r>
            <a:r>
              <a:rPr b="0" i="0" lang="en-US" sz="2900" u="none" cap="none" strike="noStrike">
                <a:solidFill>
                  <a:srgbClr val="EAF0F7"/>
                </a:solidFill>
                <a:latin typeface="Arial Black"/>
                <a:ea typeface="Arial Black"/>
                <a:cs typeface="Arial Black"/>
                <a:sym typeface="Arial Black"/>
              </a:rPr>
              <a:t> escondido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happy-vibrant-turing/mnt/outputs/fig/fig_bias.png" id="231" name="Google Shape;23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1920240"/>
            <a:ext cx="6035040" cy="3401568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9"/>
          <p:cNvSpPr/>
          <p:nvPr/>
        </p:nvSpPr>
        <p:spPr>
          <a:xfrm>
            <a:off x="7086600" y="1920240"/>
            <a:ext cx="146304" cy="457200"/>
          </a:xfrm>
          <a:prstGeom prst="rect">
            <a:avLst/>
          </a:prstGeom>
          <a:solidFill>
            <a:srgbClr val="FF2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9"/>
          <p:cNvSpPr/>
          <p:nvPr/>
        </p:nvSpPr>
        <p:spPr>
          <a:xfrm>
            <a:off x="7360920" y="1874520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Mesma geometria, sentido invertido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7360920" y="2276856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1B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Avaliamos em pistas </a:t>
            </a:r>
            <a:r>
              <a:rPr lang="en-US" sz="1250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espelhadas</a:t>
            </a:r>
            <a:r>
              <a:rPr b="0" i="0" lang="en-US" sz="125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 em Y (held-out).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7086600" y="3035808"/>
            <a:ext cx="146304" cy="457200"/>
          </a:xfrm>
          <a:prstGeom prst="rect">
            <a:avLst/>
          </a:prstGeom>
          <a:solidFill>
            <a:srgbClr val="FF2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"/>
          <p:cNvSpPr/>
          <p:nvPr/>
        </p:nvSpPr>
        <p:spPr>
          <a:xfrm>
            <a:off x="7360920" y="2990088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Queda acentuada do lap rate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7360920" y="3392424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1B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SAC -26pp  -  PPO -23pp face as originais.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7086600" y="4151376"/>
            <a:ext cx="146304" cy="457200"/>
          </a:xfrm>
          <a:prstGeom prst="rect">
            <a:avLst/>
          </a:prstGeom>
          <a:solidFill>
            <a:srgbClr val="FF2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9"/>
          <p:cNvSpPr/>
          <p:nvPr/>
        </p:nvSpPr>
        <p:spPr>
          <a:xfrm>
            <a:off x="7360920" y="4105656"/>
            <a:ext cx="4297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O test split tradicional engana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7360920" y="4507992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1B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Subestima o overfit estrutural dos modelos.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7086600" y="525780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1B5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SAC: padr</a:t>
            </a:r>
            <a:r>
              <a:rPr i="1" lang="en-US" sz="1150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ã</a:t>
            </a:r>
            <a:r>
              <a:rPr b="0" i="1" lang="en-US" sz="115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o bimodal (10% ou 100% por pista)   -   PPO: degradacao uniforme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1B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FORMULA STUDENT DRIVERLESS  -  APRENDIZAGEM POR REFORCO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10271455" y="64465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2D55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2D55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r>
              <a:rPr b="0" i="0" lang="en-US" sz="90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 / 1</a:t>
            </a:r>
            <a:r>
              <a:rPr lang="en-US" sz="900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0"/>
          <p:cNvSpPr/>
          <p:nvPr/>
        </p:nvSpPr>
        <p:spPr>
          <a:xfrm>
            <a:off x="640080" y="603504"/>
            <a:ext cx="155448" cy="155448"/>
          </a:xfrm>
          <a:prstGeom prst="rect">
            <a:avLst/>
          </a:prstGeom>
          <a:solidFill>
            <a:srgbClr val="46E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0"/>
          <p:cNvSpPr/>
          <p:nvPr/>
        </p:nvSpPr>
        <p:spPr>
          <a:xfrm>
            <a:off x="914400" y="475488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E08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46E08A"/>
                </a:solidFill>
                <a:latin typeface="Calibri"/>
                <a:ea typeface="Calibri"/>
                <a:cs typeface="Calibri"/>
                <a:sym typeface="Calibri"/>
              </a:rPr>
              <a:t>09 - RESULTADOS - SOLU</a:t>
            </a:r>
            <a:r>
              <a:rPr b="1" lang="en-US" sz="1250">
                <a:solidFill>
                  <a:srgbClr val="46E08A"/>
                </a:solidFill>
                <a:latin typeface="Calibri"/>
                <a:ea typeface="Calibri"/>
                <a:cs typeface="Calibri"/>
                <a:sym typeface="Calibri"/>
              </a:rPr>
              <a:t>ÇÃ</a:t>
            </a:r>
            <a:r>
              <a:rPr b="1" i="0" lang="en-US" sz="1250" u="none" cap="none" strike="noStrike">
                <a:solidFill>
                  <a:srgbClr val="46E08A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640080" y="932688"/>
            <a:ext cx="10972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E08A"/>
              </a:buClr>
              <a:buSzPts val="2900"/>
              <a:buFont typeface="Arial Black"/>
              <a:buNone/>
            </a:pPr>
            <a:r>
              <a:rPr b="0" i="0" lang="en-US" sz="2900" u="none" cap="none" strike="noStrike">
                <a:solidFill>
                  <a:srgbClr val="46E08A"/>
                </a:solidFill>
                <a:latin typeface="Arial Black"/>
                <a:ea typeface="Arial Black"/>
                <a:cs typeface="Arial Black"/>
                <a:sym typeface="Arial Black"/>
              </a:rPr>
              <a:t>Mirror augmentation </a:t>
            </a:r>
            <a:r>
              <a:rPr b="0" i="0" lang="en-US" sz="2900" u="none" cap="none" strike="noStrike">
                <a:solidFill>
                  <a:srgbClr val="EAF0F7"/>
                </a:solidFill>
                <a:latin typeface="Arial Black"/>
                <a:ea typeface="Arial Black"/>
                <a:cs typeface="Arial Black"/>
                <a:sym typeface="Arial Black"/>
              </a:rPr>
              <a:t>elimina o vi</a:t>
            </a:r>
            <a:r>
              <a:rPr lang="en-US" sz="2900">
                <a:solidFill>
                  <a:srgbClr val="EAF0F7"/>
                </a:solidFill>
                <a:latin typeface="Arial Black"/>
                <a:ea typeface="Arial Black"/>
                <a:cs typeface="Arial Black"/>
                <a:sym typeface="Arial Black"/>
              </a:rPr>
              <a:t>é</a:t>
            </a:r>
            <a:r>
              <a:rPr b="0" i="0" lang="en-US" sz="2900" u="none" cap="none" strike="noStrike">
                <a:solidFill>
                  <a:srgbClr val="EAF0F7"/>
                </a:solidFill>
                <a:latin typeface="Arial Black"/>
                <a:ea typeface="Arial Black"/>
                <a:cs typeface="Arial Black"/>
                <a:sym typeface="Arial Black"/>
              </a:rPr>
              <a:t>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sessions/happy-vibrant-turing/mnt/outputs/fig/fig_mirroraug.png" id="252" name="Google Shape;25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1920240"/>
            <a:ext cx="6309360" cy="3346704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10"/>
          <p:cNvSpPr/>
          <p:nvPr/>
        </p:nvSpPr>
        <p:spPr>
          <a:xfrm>
            <a:off x="7269480" y="1920240"/>
            <a:ext cx="146304" cy="457200"/>
          </a:xfrm>
          <a:prstGeom prst="rect">
            <a:avLst/>
          </a:prstGeom>
          <a:solidFill>
            <a:srgbClr val="46E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0"/>
          <p:cNvSpPr/>
          <p:nvPr/>
        </p:nvSpPr>
        <p:spPr>
          <a:xfrm>
            <a:off x="7543800" y="1874520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A ideia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7543800" y="2276856"/>
            <a:ext cx="4160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3A1B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Espelhar 50% dos episodios (aleat</a:t>
            </a:r>
            <a:r>
              <a:rPr lang="en-US" sz="1250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ó</a:t>
            </a:r>
            <a:r>
              <a:rPr b="0" i="0" lang="en-US" sz="125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rio) em cada reset do treino.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7269480" y="3035808"/>
            <a:ext cx="146304" cy="457200"/>
          </a:xfrm>
          <a:prstGeom prst="rect">
            <a:avLst/>
          </a:prstGeom>
          <a:solidFill>
            <a:srgbClr val="46E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0"/>
          <p:cNvSpPr/>
          <p:nvPr/>
        </p:nvSpPr>
        <p:spPr>
          <a:xfrm>
            <a:off x="7543800" y="2990088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O resultado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7543800" y="3392424"/>
            <a:ext cx="4160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3A1B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74% em espelhadas (+34pp) e +6pp em pistas originais.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7269480" y="4151376"/>
            <a:ext cx="146304" cy="457200"/>
          </a:xfrm>
          <a:prstGeom prst="rect">
            <a:avLst/>
          </a:prstGeom>
          <a:solidFill>
            <a:srgbClr val="46E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0"/>
          <p:cNvSpPr/>
          <p:nvPr/>
        </p:nvSpPr>
        <p:spPr>
          <a:xfrm>
            <a:off x="7543800" y="4105656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lang="en-US" sz="1450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conclusão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7543800" y="4507992"/>
            <a:ext cx="4160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93A1B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O problema era estrutural ao treino - </a:t>
            </a:r>
            <a:r>
              <a:rPr lang="en-US" sz="1250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não d</a:t>
            </a:r>
            <a:r>
              <a:rPr b="0" i="0" lang="en-US" sz="125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o algoritmo.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7269480" y="525780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6E08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6E08A"/>
                </a:solidFill>
                <a:latin typeface="Calibri"/>
                <a:ea typeface="Calibri"/>
                <a:cs typeface="Calibri"/>
                <a:sym typeface="Calibri"/>
              </a:rPr>
              <a:t>Igualmente bom</a:t>
            </a:r>
            <a:r>
              <a:rPr b="0" i="0" lang="en-US" sz="13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 em pistas originais e espelhadas.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1B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FORMULA STUDENT DRIVERLESS  -  APRENDIZAGEM POR REFORCO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10271455" y="64465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2D55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2D55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b="0" i="0" lang="en-US" sz="90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 / 1</a:t>
            </a:r>
            <a:r>
              <a:rPr lang="en-US" sz="900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1"/>
          <p:cNvSpPr/>
          <p:nvPr/>
        </p:nvSpPr>
        <p:spPr>
          <a:xfrm>
            <a:off x="640080" y="603504"/>
            <a:ext cx="155448" cy="155448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1"/>
          <p:cNvSpPr/>
          <p:nvPr/>
        </p:nvSpPr>
        <p:spPr>
          <a:xfrm>
            <a:off x="914400" y="475488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40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C400"/>
                </a:solidFill>
                <a:latin typeface="Calibri"/>
                <a:ea typeface="Calibri"/>
                <a:cs typeface="Calibri"/>
                <a:sym typeface="Calibri"/>
              </a:rPr>
              <a:t>10 - DISCUSS</a:t>
            </a:r>
            <a:r>
              <a:rPr b="1" lang="en-US" sz="1250">
                <a:solidFill>
                  <a:srgbClr val="FFC400"/>
                </a:solidFill>
                <a:latin typeface="Calibri"/>
                <a:ea typeface="Calibri"/>
                <a:cs typeface="Calibri"/>
                <a:sym typeface="Calibri"/>
              </a:rPr>
              <a:t>Ã</a:t>
            </a:r>
            <a:r>
              <a:rPr b="1" i="0" lang="en-US" sz="1250" u="none" cap="none" strike="noStrike">
                <a:solidFill>
                  <a:srgbClr val="FFC400"/>
                </a:solidFill>
                <a:latin typeface="Calibri"/>
                <a:ea typeface="Calibri"/>
                <a:cs typeface="Calibri"/>
                <a:sym typeface="Calibri"/>
              </a:rPr>
              <a:t>O CRITICA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640080" y="932688"/>
            <a:ext cx="10972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2900"/>
              <a:buFont typeface="Arial Black"/>
              <a:buNone/>
            </a:pPr>
            <a:r>
              <a:rPr b="0" i="0" lang="en-US" sz="2900" u="none" cap="none" strike="noStrike">
                <a:solidFill>
                  <a:srgbClr val="EAF0F7"/>
                </a:solidFill>
                <a:latin typeface="Arial Black"/>
                <a:ea typeface="Arial Black"/>
                <a:cs typeface="Arial Black"/>
                <a:sym typeface="Arial Black"/>
              </a:rPr>
              <a:t>O que </a:t>
            </a:r>
            <a:r>
              <a:rPr lang="en-US" sz="2900">
                <a:solidFill>
                  <a:srgbClr val="EAF0F7"/>
                </a:solidFill>
                <a:latin typeface="Arial Black"/>
                <a:ea typeface="Arial Black"/>
                <a:cs typeface="Arial Black"/>
                <a:sym typeface="Arial Black"/>
              </a:rPr>
              <a:t>os números</a:t>
            </a:r>
            <a:r>
              <a:rPr b="0" i="0" lang="en-US" sz="2900" u="none" cap="none" strike="noStrike">
                <a:solidFill>
                  <a:srgbClr val="EAF0F7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0" i="0" lang="en-US" sz="2900" u="none" cap="none" strike="noStrike">
                <a:solidFill>
                  <a:srgbClr val="FFC400"/>
                </a:solidFill>
                <a:latin typeface="Arial Black"/>
                <a:ea typeface="Arial Black"/>
                <a:cs typeface="Arial Black"/>
                <a:sym typeface="Arial Black"/>
              </a:rPr>
              <a:t>(n</a:t>
            </a:r>
            <a:r>
              <a:rPr lang="en-US" sz="2900">
                <a:solidFill>
                  <a:srgbClr val="FFC400"/>
                </a:solidFill>
                <a:latin typeface="Arial Black"/>
                <a:ea typeface="Arial Black"/>
                <a:cs typeface="Arial Black"/>
                <a:sym typeface="Arial Black"/>
              </a:rPr>
              <a:t>ã</a:t>
            </a:r>
            <a:r>
              <a:rPr b="0" i="0" lang="en-US" sz="2900" u="none" cap="none" strike="noStrike">
                <a:solidFill>
                  <a:srgbClr val="FFC400"/>
                </a:solidFill>
                <a:latin typeface="Arial Black"/>
                <a:ea typeface="Arial Black"/>
                <a:cs typeface="Arial Black"/>
                <a:sym typeface="Arial Black"/>
              </a:rPr>
              <a:t>o) dizem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640080" y="1783080"/>
            <a:ext cx="10908792" cy="1042416"/>
          </a:xfrm>
          <a:prstGeom prst="roundRect">
            <a:avLst>
              <a:gd fmla="val 7895" name="adj"/>
            </a:avLst>
          </a:prstGeom>
          <a:solidFill>
            <a:srgbClr val="151D2C"/>
          </a:solidFill>
          <a:ln cap="flat" cmpd="sng" w="12700">
            <a:solidFill>
              <a:srgbClr val="2C3A57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1"/>
          <p:cNvSpPr/>
          <p:nvPr/>
        </p:nvSpPr>
        <p:spPr>
          <a:xfrm>
            <a:off x="914400" y="2039112"/>
            <a:ext cx="164592" cy="530352"/>
          </a:xfrm>
          <a:prstGeom prst="rect">
            <a:avLst/>
          </a:prstGeom>
          <a:solidFill>
            <a:srgbClr val="FF2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1"/>
          <p:cNvSpPr/>
          <p:nvPr/>
        </p:nvSpPr>
        <p:spPr>
          <a:xfrm>
            <a:off x="1243584" y="1911096"/>
            <a:ext cx="420624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O lap rate isolado engana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5074920" y="1892808"/>
            <a:ext cx="6080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93A1B5"/>
              </a:buClr>
              <a:buSzPts val="1280"/>
              <a:buFont typeface="Calibri"/>
              <a:buNone/>
            </a:pPr>
            <a:r>
              <a:rPr b="0" i="0" lang="en-US" sz="128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FOV 90 e alcance 8 m ate sobem o lap rate, mas disparam os cones (9-16 por volta). </a:t>
            </a:r>
            <a:r>
              <a:rPr lang="en-US" sz="1280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É</a:t>
            </a:r>
            <a:r>
              <a:rPr b="0" i="0" lang="en-US" sz="128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 preciso ler lap rate</a:t>
            </a:r>
            <a:r>
              <a:rPr lang="en-US" sz="1280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 e</a:t>
            </a:r>
            <a:r>
              <a:rPr b="0" i="0" lang="en-US" sz="128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80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segurança</a:t>
            </a:r>
            <a:r>
              <a:rPr b="0" i="0" lang="en-US" sz="128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 em conjunto.</a:t>
            </a:r>
            <a:endParaRPr b="0" i="0" sz="12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640080" y="2889504"/>
            <a:ext cx="10908792" cy="1042416"/>
          </a:xfrm>
          <a:prstGeom prst="roundRect">
            <a:avLst>
              <a:gd fmla="val 7895" name="adj"/>
            </a:avLst>
          </a:prstGeom>
          <a:solidFill>
            <a:srgbClr val="151D2C"/>
          </a:solidFill>
          <a:ln cap="flat" cmpd="sng" w="12700">
            <a:solidFill>
              <a:srgbClr val="2C3A57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1"/>
          <p:cNvSpPr/>
          <p:nvPr/>
        </p:nvSpPr>
        <p:spPr>
          <a:xfrm>
            <a:off x="914400" y="3145536"/>
            <a:ext cx="164592" cy="530352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1"/>
          <p:cNvSpPr/>
          <p:nvPr/>
        </p:nvSpPr>
        <p:spPr>
          <a:xfrm>
            <a:off x="1243584" y="3017520"/>
            <a:ext cx="420624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Domain randomization ajuda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5074920" y="2999232"/>
            <a:ext cx="6080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93A1B5"/>
              </a:buClr>
              <a:buSzPts val="1280"/>
              <a:buFont typeface="Calibri"/>
              <a:buNone/>
            </a:pPr>
            <a:r>
              <a:rPr b="0" i="0" lang="en-US" sz="128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Remover DR aumenta os cones no teste - confirma o ganho de robustez </a:t>
            </a:r>
            <a:r>
              <a:rPr lang="en-US" sz="1280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à</a:t>
            </a:r>
            <a:r>
              <a:rPr b="0" i="0" lang="en-US" sz="128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80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variação</a:t>
            </a:r>
            <a:r>
              <a:rPr b="0" i="0" lang="en-US" sz="128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 de massa, atrito e arrasto.</a:t>
            </a:r>
            <a:endParaRPr b="0" i="0" sz="12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640080" y="3995928"/>
            <a:ext cx="10908792" cy="1042416"/>
          </a:xfrm>
          <a:prstGeom prst="roundRect">
            <a:avLst>
              <a:gd fmla="val 7895" name="adj"/>
            </a:avLst>
          </a:prstGeom>
          <a:solidFill>
            <a:srgbClr val="151D2C"/>
          </a:solidFill>
          <a:ln cap="flat" cmpd="sng" w="12700">
            <a:solidFill>
              <a:srgbClr val="2C3A57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1"/>
          <p:cNvSpPr/>
          <p:nvPr/>
        </p:nvSpPr>
        <p:spPr>
          <a:xfrm>
            <a:off x="914400" y="4251960"/>
            <a:ext cx="164592" cy="530352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1"/>
          <p:cNvSpPr/>
          <p:nvPr/>
        </p:nvSpPr>
        <p:spPr>
          <a:xfrm>
            <a:off x="1243584" y="4123944"/>
            <a:ext cx="420624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Limita</a:t>
            </a:r>
            <a:r>
              <a:rPr b="1" lang="en-US" sz="1550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çõ</a:t>
            </a:r>
            <a:r>
              <a:rPr b="1" i="0" lang="en-US" sz="155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es assumidas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5074920" y="4105656"/>
            <a:ext cx="6080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93A1B5"/>
              </a:buClr>
              <a:buSzPts val="1280"/>
              <a:buFont typeface="Calibri"/>
              <a:buNone/>
            </a:pPr>
            <a:r>
              <a:rPr b="0" i="0" lang="en-US" sz="128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Ambiente 2D (sem dinamica de pneus / pitch-roll); abla</a:t>
            </a:r>
            <a:r>
              <a:rPr lang="en-US" sz="1280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çõ</a:t>
            </a:r>
            <a:r>
              <a:rPr b="0" i="0" lang="en-US" sz="128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es com 1 seed; transfer para o carro real ainda </a:t>
            </a:r>
            <a:r>
              <a:rPr lang="en-US" sz="1280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não</a:t>
            </a:r>
            <a:r>
              <a:rPr b="0" i="0" lang="en-US" sz="128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 validado.</a:t>
            </a:r>
            <a:endParaRPr b="0" i="0" sz="12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640080" y="5102352"/>
            <a:ext cx="10908792" cy="1042416"/>
          </a:xfrm>
          <a:prstGeom prst="roundRect">
            <a:avLst>
              <a:gd fmla="val 7895" name="adj"/>
            </a:avLst>
          </a:prstGeom>
          <a:solidFill>
            <a:srgbClr val="151D2C"/>
          </a:solidFill>
          <a:ln cap="flat" cmpd="sng" w="12700">
            <a:solidFill>
              <a:srgbClr val="2C3A57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1"/>
          <p:cNvSpPr/>
          <p:nvPr/>
        </p:nvSpPr>
        <p:spPr>
          <a:xfrm>
            <a:off x="914400" y="5358384"/>
            <a:ext cx="164592" cy="530352"/>
          </a:xfrm>
          <a:prstGeom prst="rect">
            <a:avLst/>
          </a:prstGeom>
          <a:solidFill>
            <a:srgbClr val="9D7B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1"/>
          <p:cNvSpPr/>
          <p:nvPr/>
        </p:nvSpPr>
        <p:spPr>
          <a:xfrm>
            <a:off x="1243584" y="5230368"/>
            <a:ext cx="420624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Explora</a:t>
            </a:r>
            <a:r>
              <a:rPr b="1" lang="en-US" sz="1550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çã</a:t>
            </a:r>
            <a:r>
              <a:rPr b="1" i="0" lang="en-US" sz="155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o PacSim (sim-to-sim)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5074920" y="5212080"/>
            <a:ext cx="6080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93A1B5"/>
              </a:buClr>
              <a:buSzPts val="1280"/>
              <a:buFont typeface="Calibri"/>
              <a:buNone/>
            </a:pPr>
            <a:r>
              <a:rPr b="0" i="0" lang="en-US" sz="128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Bridge para o simulador 3D ROS 2 montada; a </a:t>
            </a:r>
            <a:r>
              <a:rPr lang="en-US" sz="1280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transferência</a:t>
            </a:r>
            <a:r>
              <a:rPr b="0" i="0" lang="en-US" sz="128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80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da política</a:t>
            </a:r>
            <a:r>
              <a:rPr b="0" i="0" lang="en-US" sz="128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 treinada em 2D fica como trabalho futuro.</a:t>
            </a:r>
            <a:endParaRPr b="0" i="0" sz="12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1B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FORMULA STUDENT DRIVERLESS  -  APRENDIZAGEM POR REFORCO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10271455" y="64465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2D55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2D55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r>
              <a:rPr b="0" i="0" lang="en-US" sz="90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 / 1</a:t>
            </a:r>
            <a:r>
              <a:rPr lang="en-US" sz="900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e74e738b13_3_0"/>
          <p:cNvSpPr/>
          <p:nvPr/>
        </p:nvSpPr>
        <p:spPr>
          <a:xfrm>
            <a:off x="640080" y="603504"/>
            <a:ext cx="155448" cy="155448"/>
          </a:xfrm>
          <a:prstGeom prst="rect">
            <a:avLst/>
          </a:prstGeom>
          <a:solidFill>
            <a:srgbClr val="FFC4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g3e74e738b13_3_0"/>
          <p:cNvSpPr/>
          <p:nvPr/>
        </p:nvSpPr>
        <p:spPr>
          <a:xfrm>
            <a:off x="914400" y="475488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400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FFC400"/>
                </a:solidFill>
                <a:latin typeface="Calibri"/>
                <a:ea typeface="Calibri"/>
                <a:cs typeface="Calibri"/>
                <a:sym typeface="Calibri"/>
              </a:rPr>
              <a:t>11 - </a:t>
            </a:r>
            <a:r>
              <a:rPr b="1" i="0" lang="en-US" sz="1250" u="none" cap="none" strike="noStrike">
                <a:solidFill>
                  <a:srgbClr val="FFC400"/>
                </a:solidFill>
                <a:latin typeface="Calibri"/>
                <a:ea typeface="Calibri"/>
                <a:cs typeface="Calibri"/>
                <a:sym typeface="Calibri"/>
              </a:rPr>
              <a:t>FERRAMENTAS DE IA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g3e74e738b13_3_0"/>
          <p:cNvSpPr/>
          <p:nvPr/>
        </p:nvSpPr>
        <p:spPr>
          <a:xfrm>
            <a:off x="640080" y="932688"/>
            <a:ext cx="10972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2900"/>
              <a:buFont typeface="Arial Black"/>
              <a:buNone/>
            </a:pPr>
            <a:r>
              <a:rPr b="0" i="0" lang="en-US" sz="2900" u="none" cap="none" strike="noStrike">
                <a:solidFill>
                  <a:srgbClr val="EAF0F7"/>
                </a:solidFill>
                <a:latin typeface="Arial Black"/>
                <a:ea typeface="Arial Black"/>
                <a:cs typeface="Arial Black"/>
                <a:sym typeface="Arial Black"/>
              </a:rPr>
              <a:t>Como usámos </a:t>
            </a:r>
            <a:r>
              <a:rPr b="0" i="0" lang="en-US" sz="2900" u="none" cap="none" strike="noStrike">
                <a:solidFill>
                  <a:srgbClr val="FFC400"/>
                </a:solidFill>
                <a:latin typeface="Arial Black"/>
                <a:ea typeface="Arial Black"/>
                <a:cs typeface="Arial Black"/>
                <a:sym typeface="Arial Black"/>
              </a:rPr>
              <a:t>IA neste trabalho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g3e74e738b13_3_0"/>
          <p:cNvSpPr/>
          <p:nvPr/>
        </p:nvSpPr>
        <p:spPr>
          <a:xfrm>
            <a:off x="640075" y="2590976"/>
            <a:ext cx="10908900" cy="822900"/>
          </a:xfrm>
          <a:prstGeom prst="roundRect">
            <a:avLst>
              <a:gd fmla="val 7895" name="adj"/>
            </a:avLst>
          </a:prstGeom>
          <a:solidFill>
            <a:srgbClr val="151D2C"/>
          </a:solidFill>
          <a:ln cap="flat" cmpd="sng" w="12700">
            <a:solidFill>
              <a:srgbClr val="2C3A57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g3e74e738b13_3_0"/>
          <p:cNvSpPr/>
          <p:nvPr/>
        </p:nvSpPr>
        <p:spPr>
          <a:xfrm>
            <a:off x="914400" y="2714212"/>
            <a:ext cx="164700" cy="530400"/>
          </a:xfrm>
          <a:prstGeom prst="rect">
            <a:avLst/>
          </a:prstGeom>
          <a:solidFill>
            <a:srgbClr val="FF2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g3e74e738b13_3_0"/>
          <p:cNvSpPr/>
          <p:nvPr/>
        </p:nvSpPr>
        <p:spPr>
          <a:xfrm>
            <a:off x="1243525" y="2677824"/>
            <a:ext cx="42063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Claude Code  -  copiloto de engenharia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g3e74e738b13_3_0"/>
          <p:cNvSpPr/>
          <p:nvPr/>
        </p:nvSpPr>
        <p:spPr>
          <a:xfrm>
            <a:off x="5074925" y="2654802"/>
            <a:ext cx="60807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93A1B5"/>
              </a:buClr>
              <a:buSzPts val="1280"/>
              <a:buFont typeface="Calibri"/>
              <a:buNone/>
            </a:pPr>
            <a:r>
              <a:rPr b="0" i="0" lang="en-US" sz="128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Apoio na </a:t>
            </a:r>
            <a:r>
              <a:rPr lang="en-US" sz="1280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integração</a:t>
            </a:r>
            <a:r>
              <a:rPr b="0" i="0" lang="en-US" sz="128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 com o </a:t>
            </a:r>
            <a:r>
              <a:rPr lang="en-US" sz="1280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PacSim</a:t>
            </a:r>
            <a:r>
              <a:rPr b="0" i="0" lang="en-US" sz="128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 (ponte para o simulador 3D ROS 2) e em c</a:t>
            </a:r>
            <a:r>
              <a:rPr lang="en-US" sz="1280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ó</a:t>
            </a:r>
            <a:r>
              <a:rPr b="0" i="0" lang="en-US" sz="128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digo de suporte; chegou a fazer commits no </a:t>
            </a:r>
            <a:r>
              <a:rPr lang="en-US" sz="1280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repositório</a:t>
            </a:r>
            <a:r>
              <a:rPr b="0" i="0" lang="en-US" sz="128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2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g3e74e738b13_3_0"/>
          <p:cNvSpPr/>
          <p:nvPr/>
        </p:nvSpPr>
        <p:spPr>
          <a:xfrm>
            <a:off x="640025" y="3516462"/>
            <a:ext cx="10908900" cy="822900"/>
          </a:xfrm>
          <a:prstGeom prst="roundRect">
            <a:avLst>
              <a:gd fmla="val 7895" name="adj"/>
            </a:avLst>
          </a:prstGeom>
          <a:solidFill>
            <a:srgbClr val="151D2C"/>
          </a:solidFill>
          <a:ln cap="flat" cmpd="sng" w="12700">
            <a:solidFill>
              <a:srgbClr val="2C3A57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g3e74e738b13_3_0"/>
          <p:cNvSpPr/>
          <p:nvPr/>
        </p:nvSpPr>
        <p:spPr>
          <a:xfrm>
            <a:off x="914400" y="3662736"/>
            <a:ext cx="164700" cy="53040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g3e74e738b13_3_0"/>
          <p:cNvSpPr/>
          <p:nvPr/>
        </p:nvSpPr>
        <p:spPr>
          <a:xfrm>
            <a:off x="1243575" y="3612424"/>
            <a:ext cx="42063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Gera</a:t>
            </a:r>
            <a:r>
              <a:rPr b="1" lang="en-US" sz="1550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çã</a:t>
            </a:r>
            <a:r>
              <a:rPr b="1" i="0" lang="en-US" sz="155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o e refactor de </a:t>
            </a:r>
            <a:r>
              <a:rPr b="1" lang="en-US" sz="1550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código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g3e74e738b13_3_0"/>
          <p:cNvSpPr/>
          <p:nvPr/>
        </p:nvSpPr>
        <p:spPr>
          <a:xfrm>
            <a:off x="5074925" y="3602589"/>
            <a:ext cx="60807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93A1B5"/>
              </a:buClr>
              <a:buSzPts val="1280"/>
              <a:buFont typeface="Calibri"/>
              <a:buNone/>
            </a:pPr>
            <a:r>
              <a:rPr b="0" i="0" lang="en-US" sz="128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Acelerou tarefas repetitivas: scaffolding do ambiente Gymnasium, scripts de avalia</a:t>
            </a:r>
            <a:r>
              <a:rPr lang="en-US" sz="1280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çã</a:t>
            </a:r>
            <a:r>
              <a:rPr b="0" i="0" lang="en-US" sz="128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o e </a:t>
            </a:r>
            <a:r>
              <a:rPr lang="en-US" sz="1280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visualização</a:t>
            </a:r>
            <a:r>
              <a:rPr b="0" i="0" lang="en-US" sz="128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 de resultados.</a:t>
            </a:r>
            <a:endParaRPr b="0" i="0" sz="12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g3e74e738b13_3_0"/>
          <p:cNvSpPr/>
          <p:nvPr/>
        </p:nvSpPr>
        <p:spPr>
          <a:xfrm>
            <a:off x="640025" y="4441999"/>
            <a:ext cx="10908900" cy="822900"/>
          </a:xfrm>
          <a:prstGeom prst="roundRect">
            <a:avLst>
              <a:gd fmla="val 7895" name="adj"/>
            </a:avLst>
          </a:prstGeom>
          <a:solidFill>
            <a:srgbClr val="151D2C"/>
          </a:solidFill>
          <a:ln cap="flat" cmpd="sng" w="12700">
            <a:solidFill>
              <a:srgbClr val="2C3A57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g3e74e738b13_3_0"/>
          <p:cNvSpPr/>
          <p:nvPr/>
        </p:nvSpPr>
        <p:spPr>
          <a:xfrm>
            <a:off x="914350" y="4611198"/>
            <a:ext cx="164700" cy="530400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g3e74e738b13_3_0"/>
          <p:cNvSpPr/>
          <p:nvPr/>
        </p:nvSpPr>
        <p:spPr>
          <a:xfrm>
            <a:off x="1243525" y="4505900"/>
            <a:ext cx="4206300" cy="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O que foi sempre da equipa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g3e74e738b13_3_0"/>
          <p:cNvSpPr/>
          <p:nvPr/>
        </p:nvSpPr>
        <p:spPr>
          <a:xfrm>
            <a:off x="5074875" y="4460149"/>
            <a:ext cx="6080700" cy="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93A1B5"/>
              </a:buClr>
              <a:buSzPts val="1280"/>
              <a:buFont typeface="Calibri"/>
              <a:buNone/>
            </a:pPr>
            <a:r>
              <a:rPr b="0" i="0" lang="en-US" sz="128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A formula</a:t>
            </a:r>
            <a:r>
              <a:rPr lang="en-US" sz="1280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çã</a:t>
            </a:r>
            <a:r>
              <a:rPr b="0" i="0" lang="en-US" sz="128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o do problema de RL, o desenho das </a:t>
            </a:r>
            <a:r>
              <a:rPr lang="en-US" sz="1280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experiências</a:t>
            </a:r>
            <a:r>
              <a:rPr b="0" i="0" lang="en-US" sz="128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-US" sz="1280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ablações</a:t>
            </a:r>
            <a:r>
              <a:rPr b="0" i="0" lang="en-US" sz="128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, e a </a:t>
            </a:r>
            <a:r>
              <a:rPr lang="en-US" sz="1280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análise</a:t>
            </a:r>
            <a:r>
              <a:rPr b="0" i="0" lang="en-US" sz="128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80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crítica</a:t>
            </a:r>
            <a:r>
              <a:rPr b="0" i="0" lang="en-US" sz="128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 dos resultados foram nossos.</a:t>
            </a:r>
            <a:endParaRPr b="0" i="0" sz="12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g3e74e738b13_3_0"/>
          <p:cNvSpPr/>
          <p:nvPr/>
        </p:nvSpPr>
        <p:spPr>
          <a:xfrm>
            <a:off x="640075" y="5367548"/>
            <a:ext cx="10908900" cy="777300"/>
          </a:xfrm>
          <a:prstGeom prst="roundRect">
            <a:avLst>
              <a:gd fmla="val 7895" name="adj"/>
            </a:avLst>
          </a:prstGeom>
          <a:solidFill>
            <a:srgbClr val="151D2C"/>
          </a:solidFill>
          <a:ln cap="flat" cmpd="sng" w="12700">
            <a:solidFill>
              <a:srgbClr val="2C3A57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g3e74e738b13_3_0"/>
          <p:cNvSpPr/>
          <p:nvPr/>
        </p:nvSpPr>
        <p:spPr>
          <a:xfrm>
            <a:off x="914400" y="5477272"/>
            <a:ext cx="164700" cy="530400"/>
          </a:xfrm>
          <a:prstGeom prst="rect">
            <a:avLst/>
          </a:prstGeom>
          <a:solidFill>
            <a:srgbClr val="9D7B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g3e74e738b13_3_0"/>
          <p:cNvSpPr/>
          <p:nvPr/>
        </p:nvSpPr>
        <p:spPr>
          <a:xfrm>
            <a:off x="1243575" y="5436800"/>
            <a:ext cx="42063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Postura: uso criterioso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g3e74e738b13_3_0"/>
          <p:cNvSpPr/>
          <p:nvPr/>
        </p:nvSpPr>
        <p:spPr>
          <a:xfrm>
            <a:off x="5074925" y="5367548"/>
            <a:ext cx="60807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93A1B5"/>
              </a:buClr>
              <a:buSzPts val="1280"/>
              <a:buFont typeface="Calibri"/>
              <a:buNone/>
            </a:pPr>
            <a:r>
              <a:rPr b="0" i="0" lang="en-US" sz="128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A IA acelerou a engenharia; as </a:t>
            </a:r>
            <a:r>
              <a:rPr lang="en-US" sz="1280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decisões</a:t>
            </a:r>
            <a:r>
              <a:rPr b="0" i="0" lang="en-US" sz="128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 de RL e a </a:t>
            </a:r>
            <a:r>
              <a:rPr lang="en-US" sz="1280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interpretação</a:t>
            </a:r>
            <a:r>
              <a:rPr b="0" i="0" lang="en-US" sz="128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 dos resultados foram da equipa. Verificamos todo o </a:t>
            </a:r>
            <a:r>
              <a:rPr lang="en-US" sz="1280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código</a:t>
            </a:r>
            <a:r>
              <a:rPr b="0" i="0" lang="en-US" sz="128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80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gerado</a:t>
            </a:r>
            <a:r>
              <a:rPr b="0" i="0" lang="en-US" sz="128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2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g3e74e738b13_3_0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A1B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FORMULA STUDENT DRIVERLESS  -  APRENDIZAGEM POR REFORCO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g3e74e738b13_3_0"/>
          <p:cNvSpPr/>
          <p:nvPr/>
        </p:nvSpPr>
        <p:spPr>
          <a:xfrm>
            <a:off x="10271455" y="64465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2D55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2D55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r>
              <a:rPr b="0" i="0" lang="en-US" sz="90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 / 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g3e74e738b13_3_0"/>
          <p:cNvSpPr/>
          <p:nvPr/>
        </p:nvSpPr>
        <p:spPr>
          <a:xfrm>
            <a:off x="640025" y="1711098"/>
            <a:ext cx="10908900" cy="777300"/>
          </a:xfrm>
          <a:prstGeom prst="roundRect">
            <a:avLst>
              <a:gd fmla="val 7895" name="adj"/>
            </a:avLst>
          </a:prstGeom>
          <a:solidFill>
            <a:srgbClr val="151D2C"/>
          </a:solidFill>
          <a:ln cap="flat" cmpd="sng" w="12700">
            <a:solidFill>
              <a:srgbClr val="2C3A57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412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g3e74e738b13_3_0"/>
          <p:cNvSpPr/>
          <p:nvPr/>
        </p:nvSpPr>
        <p:spPr>
          <a:xfrm>
            <a:off x="914350" y="1820822"/>
            <a:ext cx="164700" cy="530400"/>
          </a:xfrm>
          <a:prstGeom prst="rect">
            <a:avLst/>
          </a:prstGeom>
          <a:solidFill>
            <a:srgbClr val="9D7B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g3e74e738b13_3_0"/>
          <p:cNvSpPr/>
          <p:nvPr/>
        </p:nvSpPr>
        <p:spPr>
          <a:xfrm>
            <a:off x="1243525" y="1783100"/>
            <a:ext cx="42063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Claude Cowork </a:t>
            </a:r>
            <a:r>
              <a:rPr b="1" lang="en-US" sz="1550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b="1" i="0" lang="en-US" sz="155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 rascunho dos slides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g3e74e738b13_3_0"/>
          <p:cNvSpPr/>
          <p:nvPr/>
        </p:nvSpPr>
        <p:spPr>
          <a:xfrm>
            <a:off x="5074875" y="1711098"/>
            <a:ext cx="60807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93A1B5"/>
              </a:buClr>
              <a:buSzPts val="1280"/>
              <a:buFont typeface="Calibri"/>
              <a:buNone/>
            </a:pPr>
            <a:r>
              <a:rPr b="0" i="0" lang="en-US" sz="128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Estrutura e primeiro rascunho desta apresentação. A seleção de conteúdos, os dados e a narrativa final foram decididos e revistos pela equipa.</a:t>
            </a:r>
            <a:endParaRPr b="0" i="0" sz="12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2"/>
          <p:cNvSpPr/>
          <p:nvPr/>
        </p:nvSpPr>
        <p:spPr>
          <a:xfrm>
            <a:off x="640080" y="603504"/>
            <a:ext cx="155448" cy="155448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2"/>
          <p:cNvSpPr/>
          <p:nvPr/>
        </p:nvSpPr>
        <p:spPr>
          <a:xfrm>
            <a:off x="914400" y="475488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D3C5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9D3C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-US" sz="1250">
                <a:solidFill>
                  <a:srgbClr val="19D3C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i="0" lang="en-US" sz="1250" u="none" cap="none" strike="noStrike">
                <a:solidFill>
                  <a:srgbClr val="19D3C5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b="1" lang="en-US" sz="1250">
                <a:solidFill>
                  <a:srgbClr val="19D3C5"/>
                </a:solidFill>
                <a:latin typeface="Calibri"/>
                <a:ea typeface="Calibri"/>
                <a:cs typeface="Calibri"/>
                <a:sym typeface="Calibri"/>
              </a:rPr>
              <a:t>CONCLUSÕES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2"/>
          <p:cNvSpPr/>
          <p:nvPr/>
        </p:nvSpPr>
        <p:spPr>
          <a:xfrm>
            <a:off x="640080" y="932688"/>
            <a:ext cx="109728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2900"/>
              <a:buFont typeface="Arial Black"/>
              <a:buNone/>
            </a:pPr>
            <a:r>
              <a:rPr lang="en-US" sz="2900">
                <a:solidFill>
                  <a:srgbClr val="EAF0F7"/>
                </a:solidFill>
                <a:latin typeface="Arial Black"/>
                <a:ea typeface="Arial Black"/>
                <a:cs typeface="Arial Black"/>
                <a:sym typeface="Arial Black"/>
              </a:rPr>
              <a:t>Conclusões</a:t>
            </a:r>
            <a:r>
              <a:rPr b="0" i="0" lang="en-US" sz="2900" u="none" cap="none" strike="noStrike">
                <a:solidFill>
                  <a:srgbClr val="EAF0F7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sz="2900">
                <a:solidFill>
                  <a:srgbClr val="19D3C5"/>
                </a:solidFill>
                <a:latin typeface="Arial Black"/>
                <a:ea typeface="Arial Black"/>
                <a:cs typeface="Arial Black"/>
                <a:sym typeface="Arial Black"/>
              </a:rPr>
              <a:t>e</a:t>
            </a:r>
            <a:r>
              <a:rPr b="0" i="0" lang="en-US" sz="2900" u="none" cap="none" strike="noStrike">
                <a:solidFill>
                  <a:srgbClr val="19D3C5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lang="en-US" sz="2900">
                <a:solidFill>
                  <a:srgbClr val="19D3C5"/>
                </a:solidFill>
                <a:latin typeface="Arial Black"/>
                <a:ea typeface="Arial Black"/>
                <a:cs typeface="Arial Black"/>
                <a:sym typeface="Arial Black"/>
              </a:rPr>
              <a:t>próximos</a:t>
            </a:r>
            <a:r>
              <a:rPr b="0" i="0" lang="en-US" sz="2900" u="none" cap="none" strike="noStrike">
                <a:solidFill>
                  <a:srgbClr val="19D3C5"/>
                </a:solidFill>
                <a:latin typeface="Arial Black"/>
                <a:ea typeface="Arial Black"/>
                <a:cs typeface="Arial Black"/>
                <a:sym typeface="Arial Black"/>
              </a:rPr>
              <a:t> passos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2"/>
          <p:cNvSpPr/>
          <p:nvPr/>
        </p:nvSpPr>
        <p:spPr>
          <a:xfrm>
            <a:off x="640080" y="178308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D3C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9D3C5"/>
                </a:solidFill>
                <a:latin typeface="Calibri"/>
                <a:ea typeface="Calibri"/>
                <a:cs typeface="Calibri"/>
                <a:sym typeface="Calibri"/>
              </a:rPr>
              <a:t>O QUE </a:t>
            </a:r>
            <a:r>
              <a:rPr b="1" lang="en-US" sz="1200">
                <a:solidFill>
                  <a:srgbClr val="19D3C5"/>
                </a:solidFill>
                <a:latin typeface="Calibri"/>
                <a:ea typeface="Calibri"/>
                <a:cs typeface="Calibri"/>
                <a:sym typeface="Calibri"/>
              </a:rPr>
              <a:t>ALCANÇAMOS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2"/>
          <p:cNvSpPr/>
          <p:nvPr/>
        </p:nvSpPr>
        <p:spPr>
          <a:xfrm>
            <a:off x="640080" y="2276856"/>
            <a:ext cx="118872" cy="118872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2"/>
          <p:cNvSpPr/>
          <p:nvPr/>
        </p:nvSpPr>
        <p:spPr>
          <a:xfrm>
            <a:off x="972813" y="2107691"/>
            <a:ext cx="5212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Ambiente FS-AI completo, construido de raiz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2"/>
          <p:cNvSpPr/>
          <p:nvPr/>
        </p:nvSpPr>
        <p:spPr>
          <a:xfrm>
            <a:off x="640080" y="2880360"/>
            <a:ext cx="118800" cy="118800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2"/>
          <p:cNvSpPr/>
          <p:nvPr/>
        </p:nvSpPr>
        <p:spPr>
          <a:xfrm>
            <a:off x="905200" y="2711182"/>
            <a:ext cx="5212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SAC supera PPO em </a:t>
            </a:r>
            <a:r>
              <a:rPr lang="en-US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consistência</a:t>
            </a:r>
            <a:r>
              <a:rPr b="0" i="0" lang="en-US" sz="14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 (metade dos cones)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2"/>
          <p:cNvSpPr/>
          <p:nvPr/>
        </p:nvSpPr>
        <p:spPr>
          <a:xfrm>
            <a:off x="640080" y="3483864"/>
            <a:ext cx="118872" cy="118872"/>
          </a:xfrm>
          <a:prstGeom prst="rect">
            <a:avLst/>
          </a:prstGeom>
          <a:solidFill>
            <a:srgbClr val="FF2D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2"/>
          <p:cNvSpPr/>
          <p:nvPr/>
        </p:nvSpPr>
        <p:spPr>
          <a:xfrm>
            <a:off x="972813" y="3308961"/>
            <a:ext cx="5212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Descoberta de um </a:t>
            </a:r>
            <a:r>
              <a:rPr lang="en-US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viés</a:t>
            </a:r>
            <a:r>
              <a:rPr b="0" i="0" lang="en-US" sz="14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 direcional </a:t>
            </a:r>
            <a:r>
              <a:rPr lang="en-US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sistemático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2"/>
          <p:cNvSpPr/>
          <p:nvPr/>
        </p:nvSpPr>
        <p:spPr>
          <a:xfrm>
            <a:off x="640080" y="4087368"/>
            <a:ext cx="118872" cy="118872"/>
          </a:xfrm>
          <a:prstGeom prst="rect">
            <a:avLst/>
          </a:prstGeom>
          <a:solidFill>
            <a:srgbClr val="46E0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2"/>
          <p:cNvSpPr/>
          <p:nvPr/>
        </p:nvSpPr>
        <p:spPr>
          <a:xfrm>
            <a:off x="972825" y="3906740"/>
            <a:ext cx="5212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400"/>
              <a:buFont typeface="Calibri"/>
              <a:buNone/>
            </a:pPr>
            <a:r>
              <a:rPr lang="en-US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Correção</a:t>
            </a:r>
            <a:r>
              <a:rPr b="0" i="0" lang="en-US" sz="14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 via mirror augmentation (+34pp espelhadas)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2"/>
          <p:cNvSpPr/>
          <p:nvPr/>
        </p:nvSpPr>
        <p:spPr>
          <a:xfrm>
            <a:off x="6263640" y="1737360"/>
            <a:ext cx="5285232" cy="3246120"/>
          </a:xfrm>
          <a:prstGeom prst="roundRect">
            <a:avLst>
              <a:gd fmla="val 2535" name="adj"/>
            </a:avLst>
          </a:prstGeom>
          <a:solidFill>
            <a:srgbClr val="151D2C"/>
          </a:solidFill>
          <a:ln cap="flat" cmpd="sng" w="12700">
            <a:solidFill>
              <a:srgbClr val="2C3A57"/>
            </a:solidFill>
            <a:prstDash val="solid"/>
            <a:round/>
            <a:headEnd len="sm" w="sm" type="none"/>
            <a:tailEnd len="sm" w="sm" type="none"/>
          </a:ln>
          <a:effectLst>
            <a:outerShdw blurRad="114300" rotWithShape="0" algn="bl" dir="5400000" dist="38100">
              <a:srgbClr val="000000">
                <a:alpha val="3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2"/>
          <p:cNvSpPr/>
          <p:nvPr/>
        </p:nvSpPr>
        <p:spPr>
          <a:xfrm>
            <a:off x="6537960" y="1938528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7B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9D7BFF"/>
                </a:solidFill>
                <a:latin typeface="Calibri"/>
                <a:ea typeface="Calibri"/>
                <a:cs typeface="Calibri"/>
                <a:sym typeface="Calibri"/>
              </a:rPr>
              <a:t>PRÓXIMOS</a:t>
            </a:r>
            <a:r>
              <a:rPr b="1" i="0" lang="en-US" sz="1200" u="none" cap="none" strike="noStrike">
                <a:solidFill>
                  <a:srgbClr val="9D7BFF"/>
                </a:solidFill>
                <a:latin typeface="Calibri"/>
                <a:ea typeface="Calibri"/>
                <a:cs typeface="Calibri"/>
                <a:sym typeface="Calibri"/>
              </a:rPr>
              <a:t> PASSOS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2"/>
          <p:cNvSpPr/>
          <p:nvPr/>
        </p:nvSpPr>
        <p:spPr>
          <a:xfrm>
            <a:off x="6537960" y="2331720"/>
            <a:ext cx="420624" cy="420624"/>
          </a:xfrm>
          <a:prstGeom prst="ellipse">
            <a:avLst/>
          </a:prstGeom>
          <a:solidFill>
            <a:srgbClr val="1C2740"/>
          </a:solidFill>
          <a:ln cap="flat" cmpd="sng" w="19050">
            <a:solidFill>
              <a:srgbClr val="9D7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2"/>
          <p:cNvSpPr/>
          <p:nvPr/>
        </p:nvSpPr>
        <p:spPr>
          <a:xfrm>
            <a:off x="6537960" y="233172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D7BFF"/>
              </a:buClr>
              <a:buSzPts val="1500"/>
              <a:buFont typeface="Arial Black"/>
              <a:buNone/>
            </a:pPr>
            <a:r>
              <a:rPr b="0" i="0" lang="en-US" sz="1500" u="none" cap="none" strike="noStrike">
                <a:solidFill>
                  <a:srgbClr val="9D7BFF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2"/>
          <p:cNvSpPr/>
          <p:nvPr/>
        </p:nvSpPr>
        <p:spPr>
          <a:xfrm>
            <a:off x="7104888" y="2295144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Robustez </a:t>
            </a:r>
            <a:r>
              <a:rPr b="1" lang="en-US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estatística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7104888" y="2642616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1B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Repetir as </a:t>
            </a:r>
            <a:r>
              <a:rPr lang="en-US" sz="1150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ablações</a:t>
            </a:r>
            <a:r>
              <a:rPr b="0" i="0" lang="en-US" sz="115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 com </a:t>
            </a:r>
            <a:r>
              <a:rPr lang="en-US" sz="1150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múltiplas</a:t>
            </a:r>
            <a:r>
              <a:rPr b="0" i="0" lang="en-US" sz="115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 seeds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2"/>
          <p:cNvSpPr/>
          <p:nvPr/>
        </p:nvSpPr>
        <p:spPr>
          <a:xfrm>
            <a:off x="6537960" y="3200400"/>
            <a:ext cx="420624" cy="420624"/>
          </a:xfrm>
          <a:prstGeom prst="ellipse">
            <a:avLst/>
          </a:prstGeom>
          <a:solidFill>
            <a:srgbClr val="1C2740"/>
          </a:solidFill>
          <a:ln cap="flat" cmpd="sng" w="19050">
            <a:solidFill>
              <a:srgbClr val="9D7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2"/>
          <p:cNvSpPr/>
          <p:nvPr/>
        </p:nvSpPr>
        <p:spPr>
          <a:xfrm>
            <a:off x="6537960" y="320040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D7BFF"/>
              </a:buClr>
              <a:buSzPts val="1500"/>
              <a:buFont typeface="Arial Black"/>
              <a:buNone/>
            </a:pPr>
            <a:r>
              <a:rPr b="0" i="0" lang="en-US" sz="1500" u="none" cap="none" strike="noStrike">
                <a:solidFill>
                  <a:srgbClr val="9D7BFF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2"/>
          <p:cNvSpPr/>
          <p:nvPr/>
        </p:nvSpPr>
        <p:spPr>
          <a:xfrm>
            <a:off x="7104888" y="3163824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Sim-to-sim PacSim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2"/>
          <p:cNvSpPr/>
          <p:nvPr/>
        </p:nvSpPr>
        <p:spPr>
          <a:xfrm>
            <a:off x="7104888" y="3511296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1B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Validar transfer da politica 2D para o 3D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2"/>
          <p:cNvSpPr/>
          <p:nvPr/>
        </p:nvSpPr>
        <p:spPr>
          <a:xfrm>
            <a:off x="6537960" y="4069080"/>
            <a:ext cx="420624" cy="420624"/>
          </a:xfrm>
          <a:prstGeom prst="ellipse">
            <a:avLst/>
          </a:prstGeom>
          <a:solidFill>
            <a:srgbClr val="1C2740"/>
          </a:solidFill>
          <a:ln cap="flat" cmpd="sng" w="19050">
            <a:solidFill>
              <a:srgbClr val="9D7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2"/>
          <p:cNvSpPr/>
          <p:nvPr/>
        </p:nvSpPr>
        <p:spPr>
          <a:xfrm>
            <a:off x="6537960" y="406908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D7BFF"/>
              </a:buClr>
              <a:buSzPts val="1500"/>
              <a:buFont typeface="Arial Black"/>
              <a:buNone/>
            </a:pPr>
            <a:r>
              <a:rPr b="0" i="0" lang="en-US" sz="1500" u="none" cap="none" strike="noStrike">
                <a:solidFill>
                  <a:srgbClr val="9D7BFF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2"/>
          <p:cNvSpPr/>
          <p:nvPr/>
        </p:nvSpPr>
        <p:spPr>
          <a:xfrm>
            <a:off x="7104888" y="4032504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Relatório</a:t>
            </a:r>
            <a:r>
              <a:rPr b="1" i="0" lang="en-US" sz="1400" u="none" cap="none" strike="noStrike">
                <a:solidFill>
                  <a:srgbClr val="EAF0F7"/>
                </a:solidFill>
                <a:latin typeface="Calibri"/>
                <a:ea typeface="Calibri"/>
                <a:cs typeface="Calibri"/>
                <a:sym typeface="Calibri"/>
              </a:rPr>
              <a:t> final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2"/>
          <p:cNvSpPr/>
          <p:nvPr/>
        </p:nvSpPr>
        <p:spPr>
          <a:xfrm>
            <a:off x="7104888" y="4379976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1B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Analise </a:t>
            </a:r>
            <a:r>
              <a:rPr lang="en-US" sz="1150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estatística</a:t>
            </a:r>
            <a:r>
              <a:rPr b="0" i="0" lang="en-US" sz="115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 completa - entrega 16 jun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2"/>
          <p:cNvSpPr/>
          <p:nvPr/>
        </p:nvSpPr>
        <p:spPr>
          <a:xfrm>
            <a:off x="640080" y="5577780"/>
            <a:ext cx="6400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F0F7"/>
              </a:buClr>
              <a:buSzPts val="2200"/>
              <a:buFont typeface="Arial Black"/>
              <a:buNone/>
            </a:pPr>
            <a:r>
              <a:rPr b="1" i="0" lang="en-US" sz="2200" u="none" cap="none" strike="noStrike">
                <a:solidFill>
                  <a:srgbClr val="EAF0F7"/>
                </a:solidFill>
                <a:latin typeface="Arial Black"/>
                <a:ea typeface="Arial Black"/>
                <a:cs typeface="Arial Black"/>
                <a:sym typeface="Arial Black"/>
              </a:rPr>
              <a:t>Obrigado!  </a:t>
            </a:r>
            <a:r>
              <a:rPr b="0" i="0" lang="en-US" sz="2200" u="none" cap="none" strike="noStrike">
                <a:solidFill>
                  <a:srgbClr val="19D3C5"/>
                </a:solidFill>
                <a:latin typeface="Arial Black"/>
                <a:ea typeface="Arial Black"/>
                <a:cs typeface="Arial Black"/>
                <a:sym typeface="Arial Black"/>
              </a:rPr>
              <a:t>Perguntas &amp; feedback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2"/>
          <p:cNvSpPr/>
          <p:nvPr/>
        </p:nvSpPr>
        <p:spPr>
          <a:xfrm>
            <a:off x="640080" y="6126480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1B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3A1B5"/>
                </a:solidFill>
                <a:latin typeface="Calibri"/>
                <a:ea typeface="Calibri"/>
                <a:cs typeface="Calibri"/>
                <a:sym typeface="Calibri"/>
              </a:rPr>
              <a:t>Luis Miguel Pereira Silva - PG60390      Pedro M. S. A. Urbano dos Reis - PG59908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2026-06-01T18:07:34Z</dcterms:created>
  <dc:creator>Luis Silva - Pedro Reis</dc:creator>
</cp:coreProperties>
</file>